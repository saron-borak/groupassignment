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MEMBER 1 opens.
Good morning. Our group project is the Student Profile module of an Educational Management Information System.
The one-line version: we had three separate systems that each stored their own copy of a student, and we replaced them with one shared record that all three now read from.
I will cover the problem and the database design, [Member 2] will show the integration and demonstrate the system, and [Member 3] will cover testing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MEMBER 1. Ninety seconds. This is the whole motivation - take your time.
For the individual assignment the three of us built three different systems: attendance, project submission, and complaints. All three worked.
But look at the top row. Each one had its own users table, in its own database, holding its own copy of the student. The same person existed three times.
That produces four problems. A phone number change has to be made in three places, so in practice it gets made in one, and the other two go stale.
Second, and this is the one that matters for an MIS: no system can answer a question that spans two of them. "Which students are below the attendance requirement and also have an unresolved complaint?" is a perfectly reasonable question for a registry to ask, and it was unanswerable, because no single database held both facts.
Third, when two systems disagreed there was nothing to say which was correct.
And fourth, required information was complete nowhere. None of us stored an emergency contact, because none of our systems considered it their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MEMBER 1. One minute.
So this is what we built. The Student Profile module in the middle holds the student once: identity, contact details, addresses and guardians.
The three modules underneath no longer hold any of that. Look at what each one stores now - a foreign key. attendance_records has a student_id. submissions has a student_id. complaints has a student_id. Not one of them stores a name, an email or a phone number any more.
That is the whole design in one picture, and it is what makes it a management information system rather than three applications in a folder.
Each module still does its own work - registers are marked, files are submitted, cases are answered - but the student it does that work for comes from one place.
The line at the bottom is the test of whether integration actually happened: if a module still stores a name, it has not been integrated.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[3:00-4:15] MEMBER 1. Seventy-five seconds, then hand over.
Fifteen tables in third normal form. Three decisions worth defending.
First, addresses. A student can have a permanent address, a term-time address and a mailing address. We could have put three sets of columns on the student, but that is a repeating group and it caps the number arbitrarily. So addresses are their own table, and the type is a lookup - which means if the registry wants to rename "Permanent address", that is one row, not thousands.
Second, we archive rather than delete. If you delete a profile you destroy the attendance and complaint history that points at it, and the university is required to keep that. A soft delete hides the record and preserves everything.
Third, the one we rejected. We could have stored the attendance percentage on the profile and made reporting trivial. We did not, because that number goes stale the moment any subsystem writes a record without recalculating it - and a wrong attendance percentage here can bar a student from an exam. So we always derive it, and [Member 2] will explain how we kept that cheap.
The line at the bottom is the principle behind all three: put correctness in the schema where you can.
HAND OVER: "[Member 2] will now show how the three systems were actually integrated."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[4:15-5:45] MEMBER 2 takes over. Ninety seconds.
Thank you. So what did integration actually involve?
Far less schema surgery than we expected, and far more argument about definitions.
Taking the modules in turn. Attendance used to reference its own users table, and the student name and email lived in that database. Now it references students.id and stores no identity data whatsoever.
Submission was the biggest change. It had a separate subjects table and a second users table, and enrolments were recorded twice - once for attendance, once for assignments. Now assignments hang off the shared class sections, and one enrolment roster serves both modules.
Complaints referenced a third users table that held only a name and a role. Now a complaint resolves to the full profile, so the registry can see who raised it and how they are doing.
Each module also kept its own working service, so it still does its own job: a lecturer marks a register, a student submits a file, the registry answers a case. What changed is where the student comes from.
And the box at the bottom is the honest answer to what was hard. One of us called a taught unit a course, another called it a subject. Same thing, two names, two tables. Agreeing on one definition took a whole meeting; changing the code took an afternoon. That is the real lesson about building an 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[5:45-6:45] MEMBER 2. One minute, then straight into the demo.
One performance point before I show you the system, because it is where a naive version of this project would fall over.
The profile page shows all three modules together. The obvious way to build that is to query each module for each student. For one profile that is three queries and perfectly fine. For a sixty-student programme report it is one hundred and eighty. The cost grows with enrolment, which means it passes a demonstration with five students and fails with a real cohort.
Instead we run one grouped query per module, using conditional sums keyed by student. Sixty students and six hundred students both cost three queries.
And we have a test that literally counts the queries and fails if there are more than three, so if someone later reintroduces a loop, the build breaks rather than the system quietly getting slower.
Now let me show you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[6:45-10:45] LIVE DEMONSTRATION. Four minutes.
MEMBER 2 drives the keyboard; MEMBER 3 narrates, so both are visibly involved.
BEFORE YOU START:
  - Server already running: php artisan serve --port=8001
  - Signed in as registry@eamu.edu / password
  - A second browser or private window at the login page
  - A small PDF on the desktop, ready to upload in step 5
  - A SECOND DEVICE or private window signed in as a student, for the check-in
  - If the data has been altered: php artisan migrate:fresh --seed
RUNNING ORDER:
1. REGISTRY DASHBOARD (25s). 45 active students, 6 programmes. Point at the three module signals: students below the attendance rule, submissions this week, open complaints. Say: three different systems, one screen. That is the thing none of us could do alone.
2. STUDENT PROFILE (40s). Open any student. Show the identity band and completeness, then the three coloured cards. Switch the activity tabs between Attendance and Submissions to show it is live data, not a summary table.
3. QR CHECK-IN (55s). THE SET PIECE - rehearse this one. As the lecturer, open tomorrow’s session; the kiosk appears with the QR code, the six-character code and a countdown. On the second device, sign in as a student and type the code: "Checked in. You are marked present." The kiosk tally moves without the page reloading. Say: the code is replaced about every minute, so a photograph sent to somebody outside the room is already dead.
4. CLOSE THE SESSION (25s). Press Close session. Read the message aloud: twenty-one students who never checked in were marked absent. Say: that is one write, and it is why a percentage means something - a session left open would look like nobody was absent.
5. SUBMIT AND COLLECT (30s). In the student window, My assignments: upload the PDF and show it recorded as on time. Back in the faculty window, open the assignment and show the submission appear with the student number in the filename. Say: the file is on a private disk, so it is not reachable by guessing a URL.
6. RAISE AND ANSWER A CASE (30s). As the student, file a complaint and read out the reference. As the registry, open it, note the student profile on the right, write a reply, set it to Resolved. Back as the student, show the reply on their own copy.
7. AT-RISK REPORT (20s). Open the at-risk list. Twenty-one enrolments below seventy-five per cent, worst first. Say: one grouped query, so this costs the same for forty-five students or four thousand.
8. ACCESS CONTROL (15s). As the faculty member, paste the URL of a student they do not teach. Access denied. Say: middleware alone would have allowed that; the ownership policy is what stops it.
IF THE DEMO FAILS: do not debug on stage. Say the report contains screenshots of every screen, move to the testing slide, and recover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[10:45-12:00] MEMBER 3 takes over. Seventy-five seconds.
Thank you. We tested at the four levels the brief asks for.
A hundred and twenty-nine automated tests, three hundred and ninety assertions, running in under four seconds - which matters, because a slow suite is one you stop running.
The important choice is that the system tests go through the real routing stack rather than calling methods directly. A single assertion therefore exercises routing, middleware, the ownership policies, validation, the service layer and the database together.
The integration tests are the ones specific to this project: they create records in all three modules for one student, then check the profile reports figures consistent with each. Beyond that, sixty-six tests cover the module write paths - marking a register, checking in by QR, submitting a file, answering a complaint - including the cases we most wanted to be sure of: a mark forged for a student outside the roster, an expired check-in code, a resubmission after the deadline, and a reopened case.
And on the right, we disable lazy loading during testing. If the code forgets to eager-load a relationship it throws, instead of quietly firing an extra query per row. So an N-plus-one performance bug fails the build rather than shipping silently.
The report documents eighty test cases individually, each traced to a numbered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[12:00-13:00] MEMBER 3. One minute.
Security. The part worth explaining is at the top, because it is a mistake that is easy to make.
Route middleware asks whether the user is the right kind of person for this area. That is necessary, but it is not sufficient. It confirms the visitor is a faculty member; it says nothing about which faculty member.
So there is a second layer. A policy checks that the student is actually enrolled in a section this lecturer teaches. Without it, any lecturer could open any student profile just by changing the number in the address bar - which is exactly what we demonstrated a moment ago.
Underneath are the standard protections. Every query binds its parameters through the ORM, so SQL injection is not possible. Output is escaped by default. State-changing forms carry a CSRF token. Uploads are restricted by type and size, renamed, and stored outside the source tree. And sign-in attempts are rate limited.
We relied on the framework for these deliberately, because hand-rolling security primitives is where student projects get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[13:00-13:45] MEMBER 3. Forty-five seconds - keep it moving.
Four things we take away, and the pattern across them is that the technical part was the easy part.
First, integration turned out to be a data problem, not an interface problem. We expected to be writing code to make three applications talk to each other. What it actually required was agreeing on one definition of a student and rewriting three foreign keys.
Second, and this surprised us: none of our three systems looked wrong on its own. Each held exactly the fields it needed and was perfectly consistent internally. The duplication only became visible when we tried to ask a question spanning two of them and discovered there was no key to join on. Redundancy is hard to see from inside the system that contains it.
Third, put correctness in the schema. A unique constraint we wrote actually caught a mistake in our own test code - it stopped us creating two class meetings at the same time, which cannot happen in reality.
And fourth, dividing the work by subsystem worked well, but the shared students table became a bottleneck because any change to it affected all three of us. Settling that schema early, in one sitting, was the single best decision we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[13:45-14:15] MEMBER 3. Thirty seconds - keep it brisk.
Briefly, what comes next.
The left column is nearly free because the hard part already exists. Notification is the clearest example, and it is the line at the bottom: the system already knows exactly who is below the attendance requirement and who has an open complaint. It just does not tell anybody yet. That closes the loop on the original problem.
The middle column is well-defined work: an audit trail, and document attachments extending the upload handling we already have.
The right column is larger - bringing the full interfaces of all three subsystems in, and tracking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[14:15-14:45] MEMBER 3 closes, then all three take questions.
To close where we started. We had three systems each holding their own copy of a student. Now three student tables are one.
A phone number is stored once. A question spanning attendance and complaints can finally be asked. And the registry can see, for the first time, which records are incomplete - a question that could not even arise before, because each system stored only the few fields it needed and considered them complete.
Thank you. We are happy to take questions.
LIKELY QUESTIONS - agree beforehand who answers each:
Q: Why not have the three systems call each other through an API instead?
A (Member 2): That keeps three copies of the student and adds a synchronisation problem on top. The duplication is the defect; sharing one table removes it rather than managing it.
Q: What happens to attendance history when a student is archived?
A (Member 1): It is retained. We soft delete, so the profile leaves the active list but every record referencing it survives. There is a test for exactly that.
Q: Is the attendance percentage stored or calculated?
A (Member 1): Always calculated. A cached value drifts as soon as any module writes without recalculating, and a wrong figure here can bar a student from an exam. It costs one query per module, which we measured and test for.
Q: How would this scale to a whole university?
A (Member 2): Reporting is already flat - three queries regardless of cohort size. The next limit would be the profile list, which we would address with indexes on the search columns.
Q: Which parts came from your individual assignments?
A (Member 3): The three subsystems and their business rules. The profile module, the shared schema and the integration layer are new work for this project.
Q: What was the hardest part?
A (Member 2): Agreeing what a student is. Two of our systems modelled a taught unit differently, one calling it a course and the other a subject, and reconciling that took longer than any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43D"/>
        </a:solidFill>
      </p:bgPr>
    </p:bg>
    <p:spTree>
      <p:nvGrpSpPr>
        <p:cNvPr id="1" name=""/>
        <p:cNvGrpSpPr/>
        <p:nvPr/>
      </p:nvGrpSpPr>
      <p:grpSpPr>
        <a:xfrm>
          <a:off x="0" y="0"/>
          <a:ext cx="0" cy="0"/>
          <a:chOff x="0" y="0"/>
          <a:chExt cx="0" cy="0"/>
        </a:xfrm>
      </p:grpSpPr>
      <p:sp>
        <p:nvSpPr>
          <p:cNvPr id="2" name="Text 0"/>
          <p:cNvSpPr txBox="1"/>
          <p:nvPr/>
        </p:nvSpPr>
        <p:spPr>
          <a:xfrm>
            <a:off x="640080" y="1234440"/>
            <a:ext cx="10911535" cy="274320"/>
          </a:xfrm>
          <a:prstGeom prst="rect">
            <a:avLst/>
          </a:prstGeom>
          <a:noFill/>
          <a:ln/>
        </p:spPr>
        <p:txBody>
          <a:bodyPr wrap="square" lIns="0" tIns="0" rIns="0" bIns="0" rtlCol="0" anchor="ctr"/>
          <a:lstStyle/>
          <a:p>
            <a:pPr indent="0" marL="0">
              <a:buNone/>
            </a:pPr>
            <a:r>
              <a:rPr lang="en-US" sz="1250" b="1" spc="240" kern="0" dirty="0">
                <a:solidFill>
                  <a:srgbClr val="0F8A72"/>
                </a:solidFill>
                <a:latin typeface="Calibri" pitchFamily="34" charset="0"/>
                <a:ea typeface="Calibri" pitchFamily="34" charset="-122"/>
                <a:cs typeface="Calibri" pitchFamily="34" charset="-120"/>
              </a:rPr>
              <a:t>EAST ASIA MANAGEMENT UNIVERSITY</a:t>
            </a:r>
            <a:endParaRPr lang="en-US" sz="1250" dirty="0"/>
          </a:p>
        </p:txBody>
      </p:sp>
      <p:sp>
        <p:nvSpPr>
          <p:cNvPr id="3" name="Text 1"/>
          <p:cNvSpPr txBox="1"/>
          <p:nvPr/>
        </p:nvSpPr>
        <p:spPr>
          <a:xfrm>
            <a:off x="640080" y="1645920"/>
            <a:ext cx="7863840" cy="74980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Educational MIS</a:t>
            </a:r>
            <a:endParaRPr lang="en-US" sz="4800" dirty="0"/>
          </a:p>
        </p:txBody>
      </p:sp>
      <p:sp>
        <p:nvSpPr>
          <p:cNvPr id="4" name="Text 2"/>
          <p:cNvSpPr txBox="1"/>
          <p:nvPr/>
        </p:nvSpPr>
        <p:spPr>
          <a:xfrm>
            <a:off x="640080" y="2359152"/>
            <a:ext cx="7863840" cy="74980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Student Profile Module</a:t>
            </a:r>
            <a:endParaRPr lang="en-US" sz="4800" dirty="0"/>
          </a:p>
        </p:txBody>
      </p:sp>
      <p:sp>
        <p:nvSpPr>
          <p:cNvPr id="5" name="Text 3"/>
          <p:cNvSpPr txBox="1"/>
          <p:nvPr/>
        </p:nvSpPr>
        <p:spPr>
          <a:xfrm>
            <a:off x="640080" y="3291840"/>
            <a:ext cx="7315200" cy="457200"/>
          </a:xfrm>
          <a:prstGeom prst="rect">
            <a:avLst/>
          </a:prstGeom>
          <a:noFill/>
          <a:ln/>
        </p:spPr>
        <p:txBody>
          <a:bodyPr wrap="square" lIns="0" tIns="0" rIns="0" bIns="0" rtlCol="0" anchor="ctr"/>
          <a:lstStyle/>
          <a:p>
            <a:pPr indent="0" marL="0">
              <a:buNone/>
            </a:pPr>
            <a:r>
              <a:rPr lang="en-US" sz="1500" dirty="0">
                <a:solidFill>
                  <a:srgbClr val="B9C6DB"/>
                </a:solidFill>
                <a:latin typeface="Calibri" pitchFamily="34" charset="0"/>
                <a:ea typeface="Calibri" pitchFamily="34" charset="-122"/>
                <a:cs typeface="Calibri" pitchFamily="34" charset="-120"/>
              </a:rPr>
              <a:t>One student record, serving attendance, project submission and complaint management.</a:t>
            </a:r>
            <a:endParaRPr lang="en-US" sz="1500" dirty="0"/>
          </a:p>
        </p:txBody>
      </p:sp>
      <p:sp>
        <p:nvSpPr>
          <p:cNvPr id="6" name="Shape 4"/>
          <p:cNvSpPr/>
          <p:nvPr/>
        </p:nvSpPr>
        <p:spPr>
          <a:xfrm>
            <a:off x="640080" y="3931920"/>
            <a:ext cx="164592" cy="164592"/>
          </a:xfrm>
          <a:prstGeom prst="ellipse">
            <a:avLst/>
          </a:prstGeom>
          <a:solidFill>
            <a:srgbClr val="0F8A72"/>
          </a:solidFill>
          <a:ln/>
        </p:spPr>
      </p:sp>
      <p:sp>
        <p:nvSpPr>
          <p:cNvPr id="7" name="Text 5"/>
          <p:cNvSpPr txBox="1"/>
          <p:nvPr/>
        </p:nvSpPr>
        <p:spPr>
          <a:xfrm>
            <a:off x="896112" y="3877056"/>
            <a:ext cx="1828800" cy="274320"/>
          </a:xfrm>
          <a:prstGeom prst="rect">
            <a:avLst/>
          </a:prstGeom>
          <a:noFill/>
          <a:ln/>
        </p:spPr>
        <p:txBody>
          <a:bodyPr wrap="square" lIns="0" tIns="0" rIns="0" bIns="0" rtlCol="0" anchor="ctr"/>
          <a:lstStyle/>
          <a:p>
            <a:pPr indent="0" marL="0">
              <a:buNone/>
            </a:pPr>
            <a:r>
              <a:rPr lang="en-US" sz="1150" dirty="0">
                <a:solidFill>
                  <a:srgbClr val="9DAAC2"/>
                </a:solidFill>
                <a:latin typeface="Calibri" pitchFamily="34" charset="0"/>
                <a:ea typeface="Calibri" pitchFamily="34" charset="-122"/>
                <a:cs typeface="Calibri" pitchFamily="34" charset="-120"/>
              </a:rPr>
              <a:t>Attendance</a:t>
            </a:r>
            <a:endParaRPr lang="en-US" sz="1150" dirty="0"/>
          </a:p>
        </p:txBody>
      </p:sp>
      <p:sp>
        <p:nvSpPr>
          <p:cNvPr id="8" name="Shape 6"/>
          <p:cNvSpPr/>
          <p:nvPr/>
        </p:nvSpPr>
        <p:spPr>
          <a:xfrm>
            <a:off x="2743200" y="3931920"/>
            <a:ext cx="164592" cy="164592"/>
          </a:xfrm>
          <a:prstGeom prst="ellipse">
            <a:avLst/>
          </a:prstGeom>
          <a:solidFill>
            <a:srgbClr val="2F6FB5"/>
          </a:solidFill>
          <a:ln/>
        </p:spPr>
      </p:sp>
      <p:sp>
        <p:nvSpPr>
          <p:cNvPr id="9" name="Text 7"/>
          <p:cNvSpPr txBox="1"/>
          <p:nvPr/>
        </p:nvSpPr>
        <p:spPr>
          <a:xfrm>
            <a:off x="2999232" y="3877056"/>
            <a:ext cx="1828800" cy="274320"/>
          </a:xfrm>
          <a:prstGeom prst="rect">
            <a:avLst/>
          </a:prstGeom>
          <a:noFill/>
          <a:ln/>
        </p:spPr>
        <p:txBody>
          <a:bodyPr wrap="square" lIns="0" tIns="0" rIns="0" bIns="0" rtlCol="0" anchor="ctr"/>
          <a:lstStyle/>
          <a:p>
            <a:pPr indent="0" marL="0">
              <a:buNone/>
            </a:pPr>
            <a:r>
              <a:rPr lang="en-US" sz="1150" dirty="0">
                <a:solidFill>
                  <a:srgbClr val="9DAAC2"/>
                </a:solidFill>
                <a:latin typeface="Calibri" pitchFamily="34" charset="0"/>
                <a:ea typeface="Calibri" pitchFamily="34" charset="-122"/>
                <a:cs typeface="Calibri" pitchFamily="34" charset="-120"/>
              </a:rPr>
              <a:t>Submissions</a:t>
            </a:r>
            <a:endParaRPr lang="en-US" sz="1150" dirty="0"/>
          </a:p>
        </p:txBody>
      </p:sp>
      <p:sp>
        <p:nvSpPr>
          <p:cNvPr id="10" name="Shape 8"/>
          <p:cNvSpPr/>
          <p:nvPr/>
        </p:nvSpPr>
        <p:spPr>
          <a:xfrm>
            <a:off x="4846320" y="3931920"/>
            <a:ext cx="164592" cy="164592"/>
          </a:xfrm>
          <a:prstGeom prst="ellipse">
            <a:avLst/>
          </a:prstGeom>
          <a:solidFill>
            <a:srgbClr val="B8860B"/>
          </a:solidFill>
          <a:ln/>
        </p:spPr>
      </p:sp>
      <p:sp>
        <p:nvSpPr>
          <p:cNvPr id="11" name="Text 9"/>
          <p:cNvSpPr txBox="1"/>
          <p:nvPr/>
        </p:nvSpPr>
        <p:spPr>
          <a:xfrm>
            <a:off x="5102352" y="3877056"/>
            <a:ext cx="1828800" cy="274320"/>
          </a:xfrm>
          <a:prstGeom prst="rect">
            <a:avLst/>
          </a:prstGeom>
          <a:noFill/>
          <a:ln/>
        </p:spPr>
        <p:txBody>
          <a:bodyPr wrap="square" lIns="0" tIns="0" rIns="0" bIns="0" rtlCol="0" anchor="ctr"/>
          <a:lstStyle/>
          <a:p>
            <a:pPr indent="0" marL="0">
              <a:buNone/>
            </a:pPr>
            <a:r>
              <a:rPr lang="en-US" sz="1150" dirty="0">
                <a:solidFill>
                  <a:srgbClr val="9DAAC2"/>
                </a:solidFill>
                <a:latin typeface="Calibri" pitchFamily="34" charset="0"/>
                <a:ea typeface="Calibri" pitchFamily="34" charset="-122"/>
                <a:cs typeface="Calibri" pitchFamily="34" charset="-120"/>
              </a:rPr>
              <a:t>Complaints</a:t>
            </a:r>
            <a:endParaRPr lang="en-US" sz="1150" dirty="0"/>
          </a:p>
        </p:txBody>
      </p:sp>
      <p:sp>
        <p:nvSpPr>
          <p:cNvPr id="12" name="Text 10"/>
          <p:cNvSpPr txBox="1"/>
          <p:nvPr/>
        </p:nvSpPr>
        <p:spPr>
          <a:xfrm>
            <a:off x="640080" y="4572000"/>
            <a:ext cx="6858000" cy="1005840"/>
          </a:xfrm>
          <a:prstGeom prst="rect">
            <a:avLst/>
          </a:prstGeom>
          <a:noFill/>
          <a:ln/>
        </p:spPr>
        <p:txBody>
          <a:bodyPr wrap="square" lIns="0" tIns="0" rIns="0" bIns="0" rtlCol="0" anchor="ctr"/>
          <a:lstStyle/>
          <a:p>
            <a:pPr indent="0" marL="0">
              <a:lnSpc>
                <a:spcPct val="125000"/>
              </a:lnSpc>
              <a:buNone/>
            </a:pPr>
            <a:r>
              <a:rPr lang="en-US" sz="1250" b="1" dirty="0">
                <a:solidFill>
                  <a:srgbClr val="9DAAC2"/>
                </a:solidFill>
                <a:latin typeface="Calibri" pitchFamily="34" charset="0"/>
                <a:ea typeface="Calibri" pitchFamily="34" charset="-122"/>
                <a:cs typeface="Calibri" pitchFamily="34" charset="-120"/>
              </a:rPr>
              <a:t>Group Assignment - Main Project</a:t>
            </a:r>
            <a:endParaRPr lang="en-US" sz="1250" dirty="0"/>
          </a:p>
          <a:p>
            <a:pPr indent="0" marL="0">
              <a:lnSpc>
                <a:spcPct val="125000"/>
              </a:lnSpc>
              <a:buNone/>
            </a:pPr>
            <a:r>
              <a:rPr lang="en-US" sz="1250" dirty="0">
                <a:solidFill>
                  <a:srgbClr val="9DAAC2"/>
                </a:solidFill>
                <a:latin typeface="Calibri" pitchFamily="34" charset="0"/>
                <a:ea typeface="Calibri" pitchFamily="34" charset="-122"/>
                <a:cs typeface="Calibri" pitchFamily="34" charset="-120"/>
              </a:rPr>
              <a:t>[ Member 1 ]   ·   [ Member 2 ]   ·   [ Member 3 ]</a:t>
            </a:r>
            <a:endParaRPr lang="en-US" sz="1250" dirty="0"/>
          </a:p>
          <a:p>
            <a:pPr indent="0" marL="0">
              <a:lnSpc>
                <a:spcPct val="125000"/>
              </a:lnSpc>
              <a:buNone/>
            </a:pPr>
            <a:r>
              <a:rPr lang="en-US" sz="1250" dirty="0">
                <a:solidFill>
                  <a:srgbClr val="9DAAC2"/>
                </a:solidFill>
                <a:latin typeface="Calibri" pitchFamily="34" charset="0"/>
                <a:ea typeface="Calibri" pitchFamily="34" charset="-122"/>
                <a:cs typeface="Calibri" pitchFamily="34" charset="-120"/>
              </a:rPr>
              <a:t>Information System in Business  ·  [ Date ]</a:t>
            </a:r>
            <a:endParaRPr lang="en-US" sz="1250" dirty="0"/>
          </a:p>
        </p:txBody>
      </p:sp>
      <p:sp>
        <p:nvSpPr>
          <p:cNvPr id="13" name="Shape 11"/>
          <p:cNvSpPr/>
          <p:nvPr/>
        </p:nvSpPr>
        <p:spPr>
          <a:xfrm>
            <a:off x="8321040" y="1645920"/>
            <a:ext cx="3246120" cy="3200400"/>
          </a:xfrm>
          <a:prstGeom prst="roundRect">
            <a:avLst>
              <a:gd name="adj" fmla="val 1714"/>
            </a:avLst>
          </a:prstGeom>
          <a:solidFill>
            <a:srgbClr val="1D3459"/>
          </a:solidFill>
          <a:ln w="12700">
            <a:solidFill>
              <a:srgbClr val="2C4574"/>
            </a:solidFill>
            <a:prstDash val="solid"/>
          </a:ln>
        </p:spPr>
      </p:sp>
      <p:sp>
        <p:nvSpPr>
          <p:cNvPr id="14" name="Text 12"/>
          <p:cNvSpPr txBox="1"/>
          <p:nvPr/>
        </p:nvSpPr>
        <p:spPr>
          <a:xfrm>
            <a:off x="8595360" y="1874520"/>
            <a:ext cx="2697480" cy="237744"/>
          </a:xfrm>
          <a:prstGeom prst="rect">
            <a:avLst/>
          </a:prstGeom>
          <a:noFill/>
          <a:ln/>
        </p:spPr>
        <p:txBody>
          <a:bodyPr wrap="square" lIns="0" tIns="0" rIns="0" bIns="0" rtlCol="0" anchor="ctr"/>
          <a:lstStyle/>
          <a:p>
            <a:pPr indent="0" marL="0">
              <a:buNone/>
            </a:pPr>
            <a:r>
              <a:rPr lang="en-US" sz="950" b="1" spc="160" kern="0" dirty="0">
                <a:solidFill>
                  <a:srgbClr val="0F8A72"/>
                </a:solidFill>
                <a:latin typeface="Calibri" pitchFamily="34" charset="0"/>
                <a:ea typeface="Calibri" pitchFamily="34" charset="-122"/>
                <a:cs typeface="Calibri" pitchFamily="34" charset="-120"/>
              </a:rPr>
              <a:t>THE SYSTEM</a:t>
            </a:r>
            <a:endParaRPr lang="en-US" sz="950" dirty="0"/>
          </a:p>
        </p:txBody>
      </p:sp>
      <p:sp>
        <p:nvSpPr>
          <p:cNvPr id="15" name="Text 13"/>
          <p:cNvSpPr txBox="1"/>
          <p:nvPr/>
        </p:nvSpPr>
        <p:spPr>
          <a:xfrm>
            <a:off x="8595360" y="2240280"/>
            <a:ext cx="1005840"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16</a:t>
            </a:r>
            <a:endParaRPr lang="en-US" sz="2300" dirty="0"/>
          </a:p>
        </p:txBody>
      </p:sp>
      <p:sp>
        <p:nvSpPr>
          <p:cNvPr id="16" name="Text 14"/>
          <p:cNvSpPr txBox="1"/>
          <p:nvPr/>
        </p:nvSpPr>
        <p:spPr>
          <a:xfrm>
            <a:off x="9692640" y="2331720"/>
            <a:ext cx="1600200" cy="347472"/>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database tables</a:t>
            </a:r>
            <a:endParaRPr lang="en-US" sz="1100" dirty="0"/>
          </a:p>
        </p:txBody>
      </p:sp>
      <p:sp>
        <p:nvSpPr>
          <p:cNvPr id="17" name="Text 15"/>
          <p:cNvSpPr txBox="1"/>
          <p:nvPr/>
        </p:nvSpPr>
        <p:spPr>
          <a:xfrm>
            <a:off x="8595360" y="2862072"/>
            <a:ext cx="1005840"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3</a:t>
            </a:r>
            <a:endParaRPr lang="en-US" sz="2300" dirty="0"/>
          </a:p>
        </p:txBody>
      </p:sp>
      <p:sp>
        <p:nvSpPr>
          <p:cNvPr id="18" name="Text 16"/>
          <p:cNvSpPr txBox="1"/>
          <p:nvPr/>
        </p:nvSpPr>
        <p:spPr>
          <a:xfrm>
            <a:off x="9692640" y="2953512"/>
            <a:ext cx="1600200" cy="347472"/>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systems integrated</a:t>
            </a:r>
            <a:endParaRPr lang="en-US" sz="1100" dirty="0"/>
          </a:p>
        </p:txBody>
      </p:sp>
      <p:sp>
        <p:nvSpPr>
          <p:cNvPr id="19" name="Text 17"/>
          <p:cNvSpPr txBox="1"/>
          <p:nvPr/>
        </p:nvSpPr>
        <p:spPr>
          <a:xfrm>
            <a:off x="8595360" y="3483864"/>
            <a:ext cx="1005840"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129</a:t>
            </a:r>
            <a:endParaRPr lang="en-US" sz="2300" dirty="0"/>
          </a:p>
        </p:txBody>
      </p:sp>
      <p:sp>
        <p:nvSpPr>
          <p:cNvPr id="20" name="Text 18"/>
          <p:cNvSpPr txBox="1"/>
          <p:nvPr/>
        </p:nvSpPr>
        <p:spPr>
          <a:xfrm>
            <a:off x="9692640" y="3575304"/>
            <a:ext cx="1600200" cy="347472"/>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automated tests</a:t>
            </a:r>
            <a:endParaRPr lang="en-US" sz="1100" dirty="0"/>
          </a:p>
        </p:txBody>
      </p:sp>
      <p:sp>
        <p:nvSpPr>
          <p:cNvPr id="21" name="Text 19"/>
          <p:cNvSpPr txBox="1"/>
          <p:nvPr/>
        </p:nvSpPr>
        <p:spPr>
          <a:xfrm>
            <a:off x="8595360" y="4105656"/>
            <a:ext cx="1005840"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1</a:t>
            </a:r>
            <a:endParaRPr lang="en-US" sz="2300" dirty="0"/>
          </a:p>
        </p:txBody>
      </p:sp>
      <p:sp>
        <p:nvSpPr>
          <p:cNvPr id="22" name="Text 20"/>
          <p:cNvSpPr txBox="1"/>
          <p:nvPr/>
        </p:nvSpPr>
        <p:spPr>
          <a:xfrm>
            <a:off x="9692640" y="4197096"/>
            <a:ext cx="1600200" cy="347472"/>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student record</a:t>
            </a:r>
            <a:endParaRPr lang="en-US" sz="1100" dirty="0"/>
          </a:p>
        </p:txBody>
      </p:sp>
      <p:sp>
        <p:nvSpPr>
          <p:cNvPr id="23" name="Text 21"/>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7D8DA8"/>
                </a:solidFill>
                <a:latin typeface="Calibri" pitchFamily="34" charset="0"/>
                <a:ea typeface="Calibri" pitchFamily="34" charset="-122"/>
                <a:cs typeface="Calibri" pitchFamily="34" charset="-120"/>
              </a:rPr>
              <a:t>MEMBER 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Three systems, three students</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Each of us built a working application. Together they held the same person three times.</a:t>
            </a:r>
            <a:endParaRPr lang="en-US" sz="1400" dirty="0"/>
          </a:p>
        </p:txBody>
      </p:sp>
      <p:sp>
        <p:nvSpPr>
          <p:cNvPr id="5" name="Shape 3"/>
          <p:cNvSpPr/>
          <p:nvPr/>
        </p:nvSpPr>
        <p:spPr>
          <a:xfrm>
            <a:off x="640080" y="1737360"/>
            <a:ext cx="3454298" cy="1371600"/>
          </a:xfrm>
          <a:prstGeom prst="roundRect">
            <a:avLst>
              <a:gd name="adj" fmla="val 3333"/>
            </a:avLst>
          </a:prstGeom>
          <a:solidFill>
            <a:srgbClr val="FDF4F3"/>
          </a:solidFill>
          <a:ln w="12700">
            <a:solidFill>
              <a:srgbClr val="EBC7C2"/>
            </a:solidFill>
            <a:prstDash val="solid"/>
          </a:ln>
        </p:spPr>
      </p:sp>
      <p:sp>
        <p:nvSpPr>
          <p:cNvPr id="6" name="Shape 4"/>
          <p:cNvSpPr/>
          <p:nvPr/>
        </p:nvSpPr>
        <p:spPr>
          <a:xfrm>
            <a:off x="877824" y="1956816"/>
            <a:ext cx="256032" cy="256032"/>
          </a:xfrm>
          <a:prstGeom prst="ellipse">
            <a:avLst/>
          </a:prstGeom>
          <a:solidFill>
            <a:srgbClr val="0F8A72"/>
          </a:solidFill>
          <a:ln/>
        </p:spPr>
      </p:sp>
      <p:sp>
        <p:nvSpPr>
          <p:cNvPr id="7" name="Text 5"/>
          <p:cNvSpPr txBox="1"/>
          <p:nvPr/>
        </p:nvSpPr>
        <p:spPr>
          <a:xfrm>
            <a:off x="1243584" y="1938528"/>
            <a:ext cx="261305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Attendance system</a:t>
            </a:r>
            <a:endParaRPr lang="en-US" sz="1450" dirty="0"/>
          </a:p>
        </p:txBody>
      </p:sp>
      <p:sp>
        <p:nvSpPr>
          <p:cNvPr id="8" name="Text 6"/>
          <p:cNvSpPr txBox="1"/>
          <p:nvPr/>
        </p:nvSpPr>
        <p:spPr>
          <a:xfrm>
            <a:off x="877824" y="2340864"/>
            <a:ext cx="2978810" cy="310896"/>
          </a:xfrm>
          <a:prstGeom prst="rect">
            <a:avLst/>
          </a:prstGeom>
          <a:noFill/>
          <a:ln/>
        </p:spPr>
        <p:txBody>
          <a:bodyPr wrap="square" lIns="0" tIns="0" rIns="0" bIns="0" rtlCol="0" anchor="ctr"/>
          <a:lstStyle/>
          <a:p>
            <a:pPr indent="0" marL="0">
              <a:buNone/>
            </a:pPr>
            <a:r>
              <a:rPr lang="en-US" sz="1100" dirty="0">
                <a:solidFill>
                  <a:srgbClr val="68738A"/>
                </a:solidFill>
                <a:latin typeface="Consolas" pitchFamily="34" charset="0"/>
                <a:ea typeface="Consolas" pitchFamily="34" charset="-122"/>
                <a:cs typeface="Consolas" pitchFamily="34" charset="-120"/>
              </a:rPr>
              <a:t>users: id, name, email, role</a:t>
            </a:r>
            <a:endParaRPr lang="en-US" sz="1100" dirty="0"/>
          </a:p>
        </p:txBody>
      </p:sp>
      <p:sp>
        <p:nvSpPr>
          <p:cNvPr id="9" name="Text 7"/>
          <p:cNvSpPr txBox="1"/>
          <p:nvPr/>
        </p:nvSpPr>
        <p:spPr>
          <a:xfrm>
            <a:off x="877824" y="2706624"/>
            <a:ext cx="2978810" cy="274320"/>
          </a:xfrm>
          <a:prstGeom prst="rect">
            <a:avLst/>
          </a:prstGeom>
          <a:noFill/>
          <a:ln/>
        </p:spPr>
        <p:txBody>
          <a:bodyPr wrap="square" lIns="0" tIns="0" rIns="0" bIns="0" rtlCol="0" anchor="ctr"/>
          <a:lstStyle/>
          <a:p>
            <a:pPr indent="0" marL="0">
              <a:buNone/>
            </a:pPr>
            <a:r>
              <a:rPr lang="en-US" sz="1050" i="1" dirty="0">
                <a:solidFill>
                  <a:srgbClr val="B0554E"/>
                </a:solidFill>
                <a:latin typeface="Calibri" pitchFamily="34" charset="0"/>
                <a:ea typeface="Calibri" pitchFamily="34" charset="-122"/>
                <a:cs typeface="Calibri" pitchFamily="34" charset="-120"/>
              </a:rPr>
              <a:t>own database</a:t>
            </a:r>
            <a:endParaRPr lang="en-US" sz="1050" dirty="0"/>
          </a:p>
        </p:txBody>
      </p:sp>
      <p:sp>
        <p:nvSpPr>
          <p:cNvPr id="10" name="Shape 8"/>
          <p:cNvSpPr/>
          <p:nvPr/>
        </p:nvSpPr>
        <p:spPr>
          <a:xfrm>
            <a:off x="4368698" y="1737360"/>
            <a:ext cx="3454298" cy="1371600"/>
          </a:xfrm>
          <a:prstGeom prst="roundRect">
            <a:avLst>
              <a:gd name="adj" fmla="val 3333"/>
            </a:avLst>
          </a:prstGeom>
          <a:solidFill>
            <a:srgbClr val="FDF4F3"/>
          </a:solidFill>
          <a:ln w="12700">
            <a:solidFill>
              <a:srgbClr val="EBC7C2"/>
            </a:solidFill>
            <a:prstDash val="solid"/>
          </a:ln>
        </p:spPr>
      </p:sp>
      <p:sp>
        <p:nvSpPr>
          <p:cNvPr id="11" name="Shape 9"/>
          <p:cNvSpPr/>
          <p:nvPr/>
        </p:nvSpPr>
        <p:spPr>
          <a:xfrm>
            <a:off x="4606442" y="1956816"/>
            <a:ext cx="256032" cy="256032"/>
          </a:xfrm>
          <a:prstGeom prst="ellipse">
            <a:avLst/>
          </a:prstGeom>
          <a:solidFill>
            <a:srgbClr val="2F6FB5"/>
          </a:solidFill>
          <a:ln/>
        </p:spPr>
      </p:sp>
      <p:sp>
        <p:nvSpPr>
          <p:cNvPr id="12" name="Text 10"/>
          <p:cNvSpPr txBox="1"/>
          <p:nvPr/>
        </p:nvSpPr>
        <p:spPr>
          <a:xfrm>
            <a:off x="4972202" y="1938528"/>
            <a:ext cx="261305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Submission system</a:t>
            </a:r>
            <a:endParaRPr lang="en-US" sz="1450" dirty="0"/>
          </a:p>
        </p:txBody>
      </p:sp>
      <p:sp>
        <p:nvSpPr>
          <p:cNvPr id="13" name="Text 11"/>
          <p:cNvSpPr txBox="1"/>
          <p:nvPr/>
        </p:nvSpPr>
        <p:spPr>
          <a:xfrm>
            <a:off x="4606442" y="2340864"/>
            <a:ext cx="2978810" cy="310896"/>
          </a:xfrm>
          <a:prstGeom prst="rect">
            <a:avLst/>
          </a:prstGeom>
          <a:noFill/>
          <a:ln/>
        </p:spPr>
        <p:txBody>
          <a:bodyPr wrap="square" lIns="0" tIns="0" rIns="0" bIns="0" rtlCol="0" anchor="ctr"/>
          <a:lstStyle/>
          <a:p>
            <a:pPr indent="0" marL="0">
              <a:buNone/>
            </a:pPr>
            <a:r>
              <a:rPr lang="en-US" sz="1100" dirty="0">
                <a:solidFill>
                  <a:srgbClr val="68738A"/>
                </a:solidFill>
                <a:latin typeface="Consolas" pitchFamily="34" charset="0"/>
                <a:ea typeface="Consolas" pitchFamily="34" charset="-122"/>
                <a:cs typeface="Consolas" pitchFamily="34" charset="-120"/>
              </a:rPr>
              <a:t>users: id, name, email, role</a:t>
            </a:r>
            <a:endParaRPr lang="en-US" sz="1100" dirty="0"/>
          </a:p>
        </p:txBody>
      </p:sp>
      <p:sp>
        <p:nvSpPr>
          <p:cNvPr id="14" name="Text 12"/>
          <p:cNvSpPr txBox="1"/>
          <p:nvPr/>
        </p:nvSpPr>
        <p:spPr>
          <a:xfrm>
            <a:off x="4606442" y="2706624"/>
            <a:ext cx="2978810" cy="274320"/>
          </a:xfrm>
          <a:prstGeom prst="rect">
            <a:avLst/>
          </a:prstGeom>
          <a:noFill/>
          <a:ln/>
        </p:spPr>
        <p:txBody>
          <a:bodyPr wrap="square" lIns="0" tIns="0" rIns="0" bIns="0" rtlCol="0" anchor="ctr"/>
          <a:lstStyle/>
          <a:p>
            <a:pPr indent="0" marL="0">
              <a:buNone/>
            </a:pPr>
            <a:r>
              <a:rPr lang="en-US" sz="1050" i="1" dirty="0">
                <a:solidFill>
                  <a:srgbClr val="B0554E"/>
                </a:solidFill>
                <a:latin typeface="Calibri" pitchFamily="34" charset="0"/>
                <a:ea typeface="Calibri" pitchFamily="34" charset="-122"/>
                <a:cs typeface="Calibri" pitchFamily="34" charset="-120"/>
              </a:rPr>
              <a:t>own database</a:t>
            </a:r>
            <a:endParaRPr lang="en-US" sz="1050" dirty="0"/>
          </a:p>
        </p:txBody>
      </p:sp>
      <p:sp>
        <p:nvSpPr>
          <p:cNvPr id="15" name="Shape 13"/>
          <p:cNvSpPr/>
          <p:nvPr/>
        </p:nvSpPr>
        <p:spPr>
          <a:xfrm>
            <a:off x="8097317" y="1737360"/>
            <a:ext cx="3454298" cy="1371600"/>
          </a:xfrm>
          <a:prstGeom prst="roundRect">
            <a:avLst>
              <a:gd name="adj" fmla="val 3333"/>
            </a:avLst>
          </a:prstGeom>
          <a:solidFill>
            <a:srgbClr val="FDF4F3"/>
          </a:solidFill>
          <a:ln w="12700">
            <a:solidFill>
              <a:srgbClr val="EBC7C2"/>
            </a:solidFill>
            <a:prstDash val="solid"/>
          </a:ln>
        </p:spPr>
      </p:sp>
      <p:sp>
        <p:nvSpPr>
          <p:cNvPr id="16" name="Shape 14"/>
          <p:cNvSpPr/>
          <p:nvPr/>
        </p:nvSpPr>
        <p:spPr>
          <a:xfrm>
            <a:off x="8335061" y="1956816"/>
            <a:ext cx="256032" cy="256032"/>
          </a:xfrm>
          <a:prstGeom prst="ellipse">
            <a:avLst/>
          </a:prstGeom>
          <a:solidFill>
            <a:srgbClr val="B8860B"/>
          </a:solidFill>
          <a:ln/>
        </p:spPr>
      </p:sp>
      <p:sp>
        <p:nvSpPr>
          <p:cNvPr id="17" name="Text 15"/>
          <p:cNvSpPr txBox="1"/>
          <p:nvPr/>
        </p:nvSpPr>
        <p:spPr>
          <a:xfrm>
            <a:off x="8700821" y="1938528"/>
            <a:ext cx="261305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Complaint system</a:t>
            </a:r>
            <a:endParaRPr lang="en-US" sz="1450" dirty="0"/>
          </a:p>
        </p:txBody>
      </p:sp>
      <p:sp>
        <p:nvSpPr>
          <p:cNvPr id="18" name="Text 16"/>
          <p:cNvSpPr txBox="1"/>
          <p:nvPr/>
        </p:nvSpPr>
        <p:spPr>
          <a:xfrm>
            <a:off x="8335061" y="2340864"/>
            <a:ext cx="2978810" cy="310896"/>
          </a:xfrm>
          <a:prstGeom prst="rect">
            <a:avLst/>
          </a:prstGeom>
          <a:noFill/>
          <a:ln/>
        </p:spPr>
        <p:txBody>
          <a:bodyPr wrap="square" lIns="0" tIns="0" rIns="0" bIns="0" rtlCol="0" anchor="ctr"/>
          <a:lstStyle/>
          <a:p>
            <a:pPr indent="0" marL="0">
              <a:buNone/>
            </a:pPr>
            <a:r>
              <a:rPr lang="en-US" sz="1100" dirty="0">
                <a:solidFill>
                  <a:srgbClr val="68738A"/>
                </a:solidFill>
                <a:latin typeface="Consolas" pitchFamily="34" charset="0"/>
                <a:ea typeface="Consolas" pitchFamily="34" charset="-122"/>
                <a:cs typeface="Consolas" pitchFamily="34" charset="-120"/>
              </a:rPr>
              <a:t>users: id, name, role</a:t>
            </a:r>
            <a:endParaRPr lang="en-US" sz="1100" dirty="0"/>
          </a:p>
        </p:txBody>
      </p:sp>
      <p:sp>
        <p:nvSpPr>
          <p:cNvPr id="19" name="Text 17"/>
          <p:cNvSpPr txBox="1"/>
          <p:nvPr/>
        </p:nvSpPr>
        <p:spPr>
          <a:xfrm>
            <a:off x="8335061" y="2706624"/>
            <a:ext cx="2978810" cy="274320"/>
          </a:xfrm>
          <a:prstGeom prst="rect">
            <a:avLst/>
          </a:prstGeom>
          <a:noFill/>
          <a:ln/>
        </p:spPr>
        <p:txBody>
          <a:bodyPr wrap="square" lIns="0" tIns="0" rIns="0" bIns="0" rtlCol="0" anchor="ctr"/>
          <a:lstStyle/>
          <a:p>
            <a:pPr indent="0" marL="0">
              <a:buNone/>
            </a:pPr>
            <a:r>
              <a:rPr lang="en-US" sz="1050" i="1" dirty="0">
                <a:solidFill>
                  <a:srgbClr val="B0554E"/>
                </a:solidFill>
                <a:latin typeface="Calibri" pitchFamily="34" charset="0"/>
                <a:ea typeface="Calibri" pitchFamily="34" charset="-122"/>
                <a:cs typeface="Calibri" pitchFamily="34" charset="-120"/>
              </a:rPr>
              <a:t>own database</a:t>
            </a:r>
            <a:endParaRPr lang="en-US" sz="1050" dirty="0"/>
          </a:p>
        </p:txBody>
      </p:sp>
      <p:sp>
        <p:nvSpPr>
          <p:cNvPr id="20" name="Text 18"/>
          <p:cNvSpPr txBox="1"/>
          <p:nvPr/>
        </p:nvSpPr>
        <p:spPr>
          <a:xfrm>
            <a:off x="640080" y="3401568"/>
            <a:ext cx="5250028" cy="292608"/>
          </a:xfrm>
          <a:prstGeom prst="rect">
            <a:avLst/>
          </a:prstGeom>
          <a:noFill/>
          <a:ln/>
        </p:spPr>
        <p:txBody>
          <a:bodyPr wrap="square" lIns="0" tIns="0" rIns="0" bIns="0" rtlCol="0" anchor="ctr"/>
          <a:lstStyle/>
          <a:p>
            <a:pPr indent="0" marL="0">
              <a:buNone/>
            </a:pPr>
            <a:r>
              <a:rPr lang="en-US" sz="1600" b="1" dirty="0">
                <a:solidFill>
                  <a:srgbClr val="C0392B"/>
                </a:solidFill>
                <a:latin typeface="Cambria" pitchFamily="34" charset="0"/>
                <a:ea typeface="Cambria" pitchFamily="34" charset="-122"/>
                <a:cs typeface="Cambria" pitchFamily="34" charset="-120"/>
              </a:rPr>
              <a:t>Stored three times</a:t>
            </a:r>
            <a:endParaRPr lang="en-US" sz="1600" dirty="0"/>
          </a:p>
        </p:txBody>
      </p:sp>
      <p:sp>
        <p:nvSpPr>
          <p:cNvPr id="21" name="Text 19"/>
          <p:cNvSpPr txBox="1"/>
          <p:nvPr/>
        </p:nvSpPr>
        <p:spPr>
          <a:xfrm>
            <a:off x="640080" y="3712464"/>
            <a:ext cx="5250028" cy="548640"/>
          </a:xfrm>
          <a:prstGeom prst="rect">
            <a:avLst/>
          </a:prstGeom>
          <a:noFill/>
          <a:ln/>
        </p:spPr>
        <p:txBody>
          <a:bodyPr wrap="square" lIns="0" tIns="0" rIns="0" bIns="0" rtlCol="0" anchor="ctr"/>
          <a:lstStyle/>
          <a:p>
            <a:pPr indent="0" marL="0">
              <a:lnSpc>
                <a:spcPct val="108000"/>
              </a:lnSpc>
              <a:buNone/>
            </a:pPr>
            <a:r>
              <a:rPr lang="en-US" sz="1250" dirty="0">
                <a:solidFill>
                  <a:srgbClr val="1A2333"/>
                </a:solidFill>
                <a:latin typeface="Calibri" pitchFamily="34" charset="0"/>
                <a:ea typeface="Calibri" pitchFamily="34" charset="-122"/>
                <a:cs typeface="Calibri" pitchFamily="34" charset="-120"/>
              </a:rPr>
              <a:t>A change of phone number must be made in three places, and is made in one.</a:t>
            </a:r>
            <a:endParaRPr lang="en-US" sz="1250" dirty="0"/>
          </a:p>
        </p:txBody>
      </p:sp>
      <p:sp>
        <p:nvSpPr>
          <p:cNvPr id="22" name="Text 20"/>
          <p:cNvSpPr txBox="1"/>
          <p:nvPr/>
        </p:nvSpPr>
        <p:spPr>
          <a:xfrm>
            <a:off x="6301588" y="3401568"/>
            <a:ext cx="5250028" cy="292608"/>
          </a:xfrm>
          <a:prstGeom prst="rect">
            <a:avLst/>
          </a:prstGeom>
          <a:noFill/>
          <a:ln/>
        </p:spPr>
        <p:txBody>
          <a:bodyPr wrap="square" lIns="0" tIns="0" rIns="0" bIns="0" rtlCol="0" anchor="ctr"/>
          <a:lstStyle/>
          <a:p>
            <a:pPr indent="0" marL="0">
              <a:buNone/>
            </a:pPr>
            <a:r>
              <a:rPr lang="en-US" sz="1600" b="1" dirty="0">
                <a:solidFill>
                  <a:srgbClr val="C0392B"/>
                </a:solidFill>
                <a:latin typeface="Cambria" pitchFamily="34" charset="0"/>
                <a:ea typeface="Cambria" pitchFamily="34" charset="-122"/>
                <a:cs typeface="Cambria" pitchFamily="34" charset="-120"/>
              </a:rPr>
              <a:t>No question can span two</a:t>
            </a:r>
            <a:endParaRPr lang="en-US" sz="1600" dirty="0"/>
          </a:p>
        </p:txBody>
      </p:sp>
      <p:sp>
        <p:nvSpPr>
          <p:cNvPr id="23" name="Text 21"/>
          <p:cNvSpPr txBox="1"/>
          <p:nvPr/>
        </p:nvSpPr>
        <p:spPr>
          <a:xfrm>
            <a:off x="6301588" y="3712464"/>
            <a:ext cx="5250028" cy="548640"/>
          </a:xfrm>
          <a:prstGeom prst="rect">
            <a:avLst/>
          </a:prstGeom>
          <a:noFill/>
          <a:ln/>
        </p:spPr>
        <p:txBody>
          <a:bodyPr wrap="square" lIns="0" tIns="0" rIns="0" bIns="0" rtlCol="0" anchor="ctr"/>
          <a:lstStyle/>
          <a:p>
            <a:pPr indent="0" marL="0">
              <a:lnSpc>
                <a:spcPct val="108000"/>
              </a:lnSpc>
              <a:buNone/>
            </a:pPr>
            <a:r>
              <a:rPr lang="en-US" sz="1250" dirty="0">
                <a:solidFill>
                  <a:srgbClr val="1A2333"/>
                </a:solidFill>
                <a:latin typeface="Calibri" pitchFamily="34" charset="0"/>
                <a:ea typeface="Calibri" pitchFamily="34" charset="-122"/>
                <a:cs typeface="Calibri" pitchFamily="34" charset="-120"/>
              </a:rPr>
              <a:t>Who is below the attendance rule and has an open complaint? Nothing can answer it.</a:t>
            </a:r>
            <a:endParaRPr lang="en-US" sz="1250" dirty="0"/>
          </a:p>
        </p:txBody>
      </p:sp>
      <p:sp>
        <p:nvSpPr>
          <p:cNvPr id="24" name="Text 22"/>
          <p:cNvSpPr txBox="1"/>
          <p:nvPr/>
        </p:nvSpPr>
        <p:spPr>
          <a:xfrm>
            <a:off x="640080" y="4572000"/>
            <a:ext cx="5250028" cy="292608"/>
          </a:xfrm>
          <a:prstGeom prst="rect">
            <a:avLst/>
          </a:prstGeom>
          <a:noFill/>
          <a:ln/>
        </p:spPr>
        <p:txBody>
          <a:bodyPr wrap="square" lIns="0" tIns="0" rIns="0" bIns="0" rtlCol="0" anchor="ctr"/>
          <a:lstStyle/>
          <a:p>
            <a:pPr indent="0" marL="0">
              <a:buNone/>
            </a:pPr>
            <a:r>
              <a:rPr lang="en-US" sz="1600" b="1" dirty="0">
                <a:solidFill>
                  <a:srgbClr val="C0392B"/>
                </a:solidFill>
                <a:latin typeface="Cambria" pitchFamily="34" charset="0"/>
                <a:ea typeface="Cambria" pitchFamily="34" charset="-122"/>
                <a:cs typeface="Cambria" pitchFamily="34" charset="-120"/>
              </a:rPr>
              <a:t>No authoritative record</a:t>
            </a:r>
            <a:endParaRPr lang="en-US" sz="1600" dirty="0"/>
          </a:p>
        </p:txBody>
      </p:sp>
      <p:sp>
        <p:nvSpPr>
          <p:cNvPr id="25" name="Text 23"/>
          <p:cNvSpPr txBox="1"/>
          <p:nvPr/>
        </p:nvSpPr>
        <p:spPr>
          <a:xfrm>
            <a:off x="640080" y="4882896"/>
            <a:ext cx="5250028" cy="548640"/>
          </a:xfrm>
          <a:prstGeom prst="rect">
            <a:avLst/>
          </a:prstGeom>
          <a:noFill/>
          <a:ln/>
        </p:spPr>
        <p:txBody>
          <a:bodyPr wrap="square" lIns="0" tIns="0" rIns="0" bIns="0" rtlCol="0" anchor="ctr"/>
          <a:lstStyle/>
          <a:p>
            <a:pPr indent="0" marL="0">
              <a:lnSpc>
                <a:spcPct val="108000"/>
              </a:lnSpc>
              <a:buNone/>
            </a:pPr>
            <a:r>
              <a:rPr lang="en-US" sz="1250" dirty="0">
                <a:solidFill>
                  <a:srgbClr val="1A2333"/>
                </a:solidFill>
                <a:latin typeface="Calibri" pitchFamily="34" charset="0"/>
                <a:ea typeface="Calibri" pitchFamily="34" charset="-122"/>
                <a:cs typeface="Calibri" pitchFamily="34" charset="-120"/>
              </a:rPr>
              <a:t>When two systems disagree, nothing decides which is right.</a:t>
            </a:r>
            <a:endParaRPr lang="en-US" sz="1250" dirty="0"/>
          </a:p>
        </p:txBody>
      </p:sp>
      <p:sp>
        <p:nvSpPr>
          <p:cNvPr id="26" name="Text 24"/>
          <p:cNvSpPr txBox="1"/>
          <p:nvPr/>
        </p:nvSpPr>
        <p:spPr>
          <a:xfrm>
            <a:off x="6301588" y="4572000"/>
            <a:ext cx="5250028" cy="292608"/>
          </a:xfrm>
          <a:prstGeom prst="rect">
            <a:avLst/>
          </a:prstGeom>
          <a:noFill/>
          <a:ln/>
        </p:spPr>
        <p:txBody>
          <a:bodyPr wrap="square" lIns="0" tIns="0" rIns="0" bIns="0" rtlCol="0" anchor="ctr"/>
          <a:lstStyle/>
          <a:p>
            <a:pPr indent="0" marL="0">
              <a:buNone/>
            </a:pPr>
            <a:r>
              <a:rPr lang="en-US" sz="1600" b="1" dirty="0">
                <a:solidFill>
                  <a:srgbClr val="C0392B"/>
                </a:solidFill>
                <a:latin typeface="Cambria" pitchFamily="34" charset="0"/>
                <a:ea typeface="Cambria" pitchFamily="34" charset="-122"/>
                <a:cs typeface="Cambria" pitchFamily="34" charset="-120"/>
              </a:rPr>
              <a:t>Complete nowhere</a:t>
            </a:r>
            <a:endParaRPr lang="en-US" sz="1600" dirty="0"/>
          </a:p>
        </p:txBody>
      </p:sp>
      <p:sp>
        <p:nvSpPr>
          <p:cNvPr id="27" name="Text 25"/>
          <p:cNvSpPr txBox="1"/>
          <p:nvPr/>
        </p:nvSpPr>
        <p:spPr>
          <a:xfrm>
            <a:off x="6301588" y="4882896"/>
            <a:ext cx="5250028" cy="548640"/>
          </a:xfrm>
          <a:prstGeom prst="rect">
            <a:avLst/>
          </a:prstGeom>
          <a:noFill/>
          <a:ln/>
        </p:spPr>
        <p:txBody>
          <a:bodyPr wrap="square" lIns="0" tIns="0" rIns="0" bIns="0" rtlCol="0" anchor="ctr"/>
          <a:lstStyle/>
          <a:p>
            <a:pPr indent="0" marL="0">
              <a:lnSpc>
                <a:spcPct val="108000"/>
              </a:lnSpc>
              <a:buNone/>
            </a:pPr>
            <a:r>
              <a:rPr lang="en-US" sz="1250" dirty="0">
                <a:solidFill>
                  <a:srgbClr val="1A2333"/>
                </a:solidFill>
                <a:latin typeface="Calibri" pitchFamily="34" charset="0"/>
                <a:ea typeface="Calibri" pitchFamily="34" charset="-122"/>
                <a:cs typeface="Calibri" pitchFamily="34" charset="-120"/>
              </a:rPr>
              <a:t>Nobody stores the emergency contact, because no system owns it.</a:t>
            </a:r>
            <a:endParaRPr lang="en-US" sz="1250" dirty="0"/>
          </a:p>
        </p:txBody>
      </p:sp>
      <p:sp>
        <p:nvSpPr>
          <p:cNvPr id="28" name="Text 26"/>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One record at the centre</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The Student Profile module holds the student once. Everything else resolves through it.</a:t>
            </a:r>
            <a:endParaRPr lang="en-US" sz="1400" dirty="0"/>
          </a:p>
        </p:txBody>
      </p:sp>
      <p:sp>
        <p:nvSpPr>
          <p:cNvPr id="5" name="Shape 3"/>
          <p:cNvSpPr/>
          <p:nvPr/>
        </p:nvSpPr>
        <p:spPr>
          <a:xfrm>
            <a:off x="4434840" y="2286000"/>
            <a:ext cx="3291840" cy="1371600"/>
          </a:xfrm>
          <a:prstGeom prst="roundRect">
            <a:avLst>
              <a:gd name="adj" fmla="val 4000"/>
            </a:avLst>
          </a:prstGeom>
          <a:solidFill>
            <a:srgbClr val="14243D"/>
          </a:solidFill>
          <a:ln w="12700">
            <a:solidFill>
              <a:srgbClr val="14243D"/>
            </a:solidFill>
            <a:prstDash val="solid"/>
          </a:ln>
        </p:spPr>
      </p:sp>
      <p:sp>
        <p:nvSpPr>
          <p:cNvPr id="6" name="Text 4"/>
          <p:cNvSpPr txBox="1"/>
          <p:nvPr/>
        </p:nvSpPr>
        <p:spPr>
          <a:xfrm>
            <a:off x="4526280" y="2542032"/>
            <a:ext cx="3108960" cy="256032"/>
          </a:xfrm>
          <a:prstGeom prst="rect">
            <a:avLst/>
          </a:prstGeom>
          <a:noFill/>
          <a:ln/>
        </p:spPr>
        <p:txBody>
          <a:bodyPr wrap="square" lIns="0" tIns="0" rIns="0" bIns="0" rtlCol="0" anchor="ctr"/>
          <a:lstStyle/>
          <a:p>
            <a:pPr algn="ctr" indent="0" marL="0">
              <a:buNone/>
            </a:pPr>
            <a:r>
              <a:rPr lang="en-US" sz="1000" b="1" spc="160" kern="0" dirty="0">
                <a:solidFill>
                  <a:srgbClr val="0F8A72"/>
                </a:solidFill>
                <a:latin typeface="Calibri" pitchFamily="34" charset="0"/>
                <a:ea typeface="Calibri" pitchFamily="34" charset="-122"/>
                <a:cs typeface="Calibri" pitchFamily="34" charset="-120"/>
              </a:rPr>
              <a:t>STUDENT PROFILE</a:t>
            </a:r>
            <a:endParaRPr lang="en-US" sz="1000" dirty="0"/>
          </a:p>
        </p:txBody>
      </p:sp>
      <p:sp>
        <p:nvSpPr>
          <p:cNvPr id="7" name="Text 5"/>
          <p:cNvSpPr txBox="1"/>
          <p:nvPr/>
        </p:nvSpPr>
        <p:spPr>
          <a:xfrm>
            <a:off x="4526280" y="2816352"/>
            <a:ext cx="3108960"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One record</a:t>
            </a:r>
            <a:endParaRPr lang="en-US" sz="2200" dirty="0"/>
          </a:p>
        </p:txBody>
      </p:sp>
      <p:sp>
        <p:nvSpPr>
          <p:cNvPr id="8" name="Text 6"/>
          <p:cNvSpPr txBox="1"/>
          <p:nvPr/>
        </p:nvSpPr>
        <p:spPr>
          <a:xfrm>
            <a:off x="4526280" y="3218688"/>
            <a:ext cx="3108960" cy="274320"/>
          </a:xfrm>
          <a:prstGeom prst="rect">
            <a:avLst/>
          </a:prstGeom>
          <a:noFill/>
          <a:ln/>
        </p:spPr>
        <p:txBody>
          <a:bodyPr wrap="square" lIns="0" tIns="0" rIns="0" bIns="0" rtlCol="0" anchor="ctr"/>
          <a:lstStyle/>
          <a:p>
            <a:pPr algn="ctr" indent="0" marL="0">
              <a:buNone/>
            </a:pPr>
            <a:r>
              <a:rPr lang="en-US" sz="1050" dirty="0">
                <a:solidFill>
                  <a:srgbClr val="9DAAC2"/>
                </a:solidFill>
                <a:latin typeface="Calibri" pitchFamily="34" charset="0"/>
                <a:ea typeface="Calibri" pitchFamily="34" charset="-122"/>
                <a:cs typeface="Calibri" pitchFamily="34" charset="-120"/>
              </a:rPr>
              <a:t>identity · contact · address · guardian</a:t>
            </a:r>
            <a:endParaRPr lang="en-US" sz="1050" dirty="0"/>
          </a:p>
        </p:txBody>
      </p:sp>
      <p:sp>
        <p:nvSpPr>
          <p:cNvPr id="9" name="Shape 7"/>
          <p:cNvSpPr/>
          <p:nvPr/>
        </p:nvSpPr>
        <p:spPr>
          <a:xfrm>
            <a:off x="822960" y="4480560"/>
            <a:ext cx="3063240" cy="1051560"/>
          </a:xfrm>
          <a:prstGeom prst="roundRect">
            <a:avLst>
              <a:gd name="adj" fmla="val 4348"/>
            </a:avLst>
          </a:prstGeom>
          <a:solidFill>
            <a:srgbClr val="F4F7FA"/>
          </a:solidFill>
          <a:ln w="19050">
            <a:solidFill>
              <a:srgbClr val="0F8A72"/>
            </a:solidFill>
            <a:prstDash val="solid"/>
          </a:ln>
        </p:spPr>
      </p:sp>
      <p:sp>
        <p:nvSpPr>
          <p:cNvPr id="10" name="Text 8"/>
          <p:cNvSpPr txBox="1"/>
          <p:nvPr/>
        </p:nvSpPr>
        <p:spPr>
          <a:xfrm>
            <a:off x="1024128" y="4626864"/>
            <a:ext cx="265176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Attendance</a:t>
            </a:r>
            <a:endParaRPr lang="en-US" sz="1450" dirty="0"/>
          </a:p>
        </p:txBody>
      </p:sp>
      <p:sp>
        <p:nvSpPr>
          <p:cNvPr id="11" name="Text 9"/>
          <p:cNvSpPr txBox="1"/>
          <p:nvPr/>
        </p:nvSpPr>
        <p:spPr>
          <a:xfrm>
            <a:off x="1024128" y="4956048"/>
            <a:ext cx="2743200" cy="310896"/>
          </a:xfrm>
          <a:prstGeom prst="rect">
            <a:avLst/>
          </a:prstGeom>
          <a:noFill/>
          <a:ln/>
        </p:spPr>
        <p:txBody>
          <a:bodyPr wrap="square" lIns="0" tIns="0" rIns="0" bIns="0" rtlCol="0" anchor="ctr"/>
          <a:lstStyle/>
          <a:p>
            <a:pPr indent="0" marL="0">
              <a:buNone/>
            </a:pPr>
            <a:r>
              <a:rPr lang="en-US" sz="1000" dirty="0">
                <a:solidFill>
                  <a:srgbClr val="68738A"/>
                </a:solidFill>
                <a:latin typeface="Consolas" pitchFamily="34" charset="0"/>
                <a:ea typeface="Consolas" pitchFamily="34" charset="-122"/>
                <a:cs typeface="Consolas" pitchFamily="34" charset="-120"/>
              </a:rPr>
              <a:t>attendance_records.student_id</a:t>
            </a:r>
            <a:endParaRPr lang="en-US" sz="1000" dirty="0"/>
          </a:p>
        </p:txBody>
      </p:sp>
      <p:sp>
        <p:nvSpPr>
          <p:cNvPr id="12" name="Shape 10"/>
          <p:cNvSpPr/>
          <p:nvPr/>
        </p:nvSpPr>
        <p:spPr>
          <a:xfrm>
            <a:off x="2350008" y="3657600"/>
            <a:ext cx="3730752" cy="822960"/>
          </a:xfrm>
          <a:prstGeom prst="line">
            <a:avLst/>
          </a:prstGeom>
          <a:noFill/>
          <a:ln w="15875">
            <a:solidFill>
              <a:srgbClr val="AEB8C8"/>
            </a:solidFill>
            <a:prstDash val="solid"/>
            <a:headEnd type="triangle"/>
          </a:ln>
        </p:spPr>
      </p:sp>
      <p:sp>
        <p:nvSpPr>
          <p:cNvPr id="13" name="Shape 11"/>
          <p:cNvSpPr/>
          <p:nvPr/>
        </p:nvSpPr>
        <p:spPr>
          <a:xfrm>
            <a:off x="4572000" y="4480560"/>
            <a:ext cx="3063240" cy="1051560"/>
          </a:xfrm>
          <a:prstGeom prst="roundRect">
            <a:avLst>
              <a:gd name="adj" fmla="val 4348"/>
            </a:avLst>
          </a:prstGeom>
          <a:solidFill>
            <a:srgbClr val="F4F7FA"/>
          </a:solidFill>
          <a:ln w="19050">
            <a:solidFill>
              <a:srgbClr val="2F6FB5"/>
            </a:solidFill>
            <a:prstDash val="solid"/>
          </a:ln>
        </p:spPr>
      </p:sp>
      <p:sp>
        <p:nvSpPr>
          <p:cNvPr id="14" name="Text 12"/>
          <p:cNvSpPr txBox="1"/>
          <p:nvPr/>
        </p:nvSpPr>
        <p:spPr>
          <a:xfrm>
            <a:off x="4773168" y="4626864"/>
            <a:ext cx="265176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Project submission</a:t>
            </a:r>
            <a:endParaRPr lang="en-US" sz="1450" dirty="0"/>
          </a:p>
        </p:txBody>
      </p:sp>
      <p:sp>
        <p:nvSpPr>
          <p:cNvPr id="15" name="Text 13"/>
          <p:cNvSpPr txBox="1"/>
          <p:nvPr/>
        </p:nvSpPr>
        <p:spPr>
          <a:xfrm>
            <a:off x="4773168" y="4956048"/>
            <a:ext cx="2743200" cy="310896"/>
          </a:xfrm>
          <a:prstGeom prst="rect">
            <a:avLst/>
          </a:prstGeom>
          <a:noFill/>
          <a:ln/>
        </p:spPr>
        <p:txBody>
          <a:bodyPr wrap="square" lIns="0" tIns="0" rIns="0" bIns="0" rtlCol="0" anchor="ctr"/>
          <a:lstStyle/>
          <a:p>
            <a:pPr indent="0" marL="0">
              <a:buNone/>
            </a:pPr>
            <a:r>
              <a:rPr lang="en-US" sz="1000" dirty="0">
                <a:solidFill>
                  <a:srgbClr val="68738A"/>
                </a:solidFill>
                <a:latin typeface="Consolas" pitchFamily="34" charset="0"/>
                <a:ea typeface="Consolas" pitchFamily="34" charset="-122"/>
                <a:cs typeface="Consolas" pitchFamily="34" charset="-120"/>
              </a:rPr>
              <a:t>submissions.student_id</a:t>
            </a:r>
            <a:endParaRPr lang="en-US" sz="1000" dirty="0"/>
          </a:p>
        </p:txBody>
      </p:sp>
      <p:sp>
        <p:nvSpPr>
          <p:cNvPr id="16" name="Shape 14"/>
          <p:cNvSpPr/>
          <p:nvPr/>
        </p:nvSpPr>
        <p:spPr>
          <a:xfrm>
            <a:off x="6099048" y="3657600"/>
            <a:ext cx="-18288" cy="822960"/>
          </a:xfrm>
          <a:prstGeom prst="line">
            <a:avLst/>
          </a:prstGeom>
          <a:noFill/>
          <a:ln w="15875">
            <a:solidFill>
              <a:srgbClr val="AEB8C8"/>
            </a:solidFill>
            <a:prstDash val="solid"/>
            <a:headEnd type="triangle"/>
          </a:ln>
        </p:spPr>
      </p:sp>
      <p:sp>
        <p:nvSpPr>
          <p:cNvPr id="17" name="Shape 15"/>
          <p:cNvSpPr/>
          <p:nvPr/>
        </p:nvSpPr>
        <p:spPr>
          <a:xfrm>
            <a:off x="8321040" y="4480560"/>
            <a:ext cx="3063240" cy="1051560"/>
          </a:xfrm>
          <a:prstGeom prst="roundRect">
            <a:avLst>
              <a:gd name="adj" fmla="val 4348"/>
            </a:avLst>
          </a:prstGeom>
          <a:solidFill>
            <a:srgbClr val="F4F7FA"/>
          </a:solidFill>
          <a:ln w="19050">
            <a:solidFill>
              <a:srgbClr val="B8860B"/>
            </a:solidFill>
            <a:prstDash val="solid"/>
          </a:ln>
        </p:spPr>
      </p:sp>
      <p:sp>
        <p:nvSpPr>
          <p:cNvPr id="18" name="Text 16"/>
          <p:cNvSpPr txBox="1"/>
          <p:nvPr/>
        </p:nvSpPr>
        <p:spPr>
          <a:xfrm>
            <a:off x="8522208" y="4626864"/>
            <a:ext cx="2651760" cy="274320"/>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Complaints</a:t>
            </a:r>
            <a:endParaRPr lang="en-US" sz="1450" dirty="0"/>
          </a:p>
        </p:txBody>
      </p:sp>
      <p:sp>
        <p:nvSpPr>
          <p:cNvPr id="19" name="Text 17"/>
          <p:cNvSpPr txBox="1"/>
          <p:nvPr/>
        </p:nvSpPr>
        <p:spPr>
          <a:xfrm>
            <a:off x="8522208" y="4956048"/>
            <a:ext cx="2743200" cy="310896"/>
          </a:xfrm>
          <a:prstGeom prst="rect">
            <a:avLst/>
          </a:prstGeom>
          <a:noFill/>
          <a:ln/>
        </p:spPr>
        <p:txBody>
          <a:bodyPr wrap="square" lIns="0" tIns="0" rIns="0" bIns="0" rtlCol="0" anchor="ctr"/>
          <a:lstStyle/>
          <a:p>
            <a:pPr indent="0" marL="0">
              <a:buNone/>
            </a:pPr>
            <a:r>
              <a:rPr lang="en-US" sz="1000" dirty="0">
                <a:solidFill>
                  <a:srgbClr val="68738A"/>
                </a:solidFill>
                <a:latin typeface="Consolas" pitchFamily="34" charset="0"/>
                <a:ea typeface="Consolas" pitchFamily="34" charset="-122"/>
                <a:cs typeface="Consolas" pitchFamily="34" charset="-120"/>
              </a:rPr>
              <a:t>complaints.student_id</a:t>
            </a:r>
            <a:endParaRPr lang="en-US" sz="1000" dirty="0"/>
          </a:p>
        </p:txBody>
      </p:sp>
      <p:sp>
        <p:nvSpPr>
          <p:cNvPr id="20" name="Shape 18"/>
          <p:cNvSpPr/>
          <p:nvPr/>
        </p:nvSpPr>
        <p:spPr>
          <a:xfrm>
            <a:off x="9848088" y="3657600"/>
            <a:ext cx="-3767328" cy="822960"/>
          </a:xfrm>
          <a:prstGeom prst="line">
            <a:avLst/>
          </a:prstGeom>
          <a:noFill/>
          <a:ln w="15875">
            <a:solidFill>
              <a:srgbClr val="AEB8C8"/>
            </a:solidFill>
            <a:prstDash val="solid"/>
            <a:headEnd type="triangle"/>
          </a:ln>
        </p:spPr>
      </p:sp>
      <p:sp>
        <p:nvSpPr>
          <p:cNvPr id="21" name="Text 19"/>
          <p:cNvSpPr txBox="1"/>
          <p:nvPr/>
        </p:nvSpPr>
        <p:spPr>
          <a:xfrm>
            <a:off x="640080" y="5760720"/>
            <a:ext cx="10911535" cy="365760"/>
          </a:xfrm>
          <a:prstGeom prst="rect">
            <a:avLst/>
          </a:prstGeom>
          <a:noFill/>
          <a:ln/>
        </p:spPr>
        <p:txBody>
          <a:bodyPr wrap="square" lIns="0" tIns="0" rIns="0" bIns="0" rtlCol="0" anchor="ctr"/>
          <a:lstStyle/>
          <a:p>
            <a:pPr indent="0" marL="0">
              <a:buNone/>
            </a:pPr>
            <a:r>
              <a:rPr lang="en-US" sz="1350" b="1" i="1" dirty="0">
                <a:solidFill>
                  <a:srgbClr val="14243D"/>
                </a:solidFill>
                <a:latin typeface="Calibri" pitchFamily="34" charset="0"/>
                <a:ea typeface="Calibri" pitchFamily="34" charset="-122"/>
                <a:cs typeface="Calibri" pitchFamily="34" charset="-120"/>
              </a:rPr>
              <a:t>No module stores a name, an email or a phone number. They store a foreign key.</a:t>
            </a:r>
            <a:endParaRPr lang="en-US" sz="1350" dirty="0"/>
          </a:p>
        </p:txBody>
      </p:sp>
      <p:sp>
        <p:nvSpPr>
          <p:cNvPr id="22" name="Text 20"/>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1</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Fifteen tables, third normal form</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Two design decisions we can defend, and one we deliberately rejected.</a:t>
            </a:r>
            <a:endParaRPr lang="en-US" sz="1400" dirty="0"/>
          </a:p>
        </p:txBody>
      </p:sp>
      <p:sp>
        <p:nvSpPr>
          <p:cNvPr id="5" name="Shape 3"/>
          <p:cNvSpPr/>
          <p:nvPr/>
        </p:nvSpPr>
        <p:spPr>
          <a:xfrm>
            <a:off x="640080" y="1700784"/>
            <a:ext cx="5272888" cy="1828800"/>
          </a:xfrm>
          <a:prstGeom prst="roundRect">
            <a:avLst>
              <a:gd name="adj" fmla="val 2500"/>
            </a:avLst>
          </a:prstGeom>
          <a:solidFill>
            <a:srgbClr val="F4F7FA"/>
          </a:solidFill>
          <a:ln w="12700">
            <a:solidFill>
              <a:srgbClr val="D9DEE7"/>
            </a:solidFill>
            <a:prstDash val="solid"/>
          </a:ln>
        </p:spPr>
      </p:sp>
      <p:sp>
        <p:nvSpPr>
          <p:cNvPr id="6" name="Text 4"/>
          <p:cNvSpPr txBox="1"/>
          <p:nvPr/>
        </p:nvSpPr>
        <p:spPr>
          <a:xfrm>
            <a:off x="877824" y="1920240"/>
            <a:ext cx="4797400" cy="219456"/>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DECISION 1</a:t>
            </a:r>
            <a:endParaRPr lang="en-US" sz="1000" dirty="0"/>
          </a:p>
        </p:txBody>
      </p:sp>
      <p:sp>
        <p:nvSpPr>
          <p:cNvPr id="7" name="Text 5"/>
          <p:cNvSpPr txBox="1"/>
          <p:nvPr/>
        </p:nvSpPr>
        <p:spPr>
          <a:xfrm>
            <a:off x="877824" y="2194560"/>
            <a:ext cx="479740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Addresses are a table, not columns</a:t>
            </a:r>
            <a:endParaRPr lang="en-US" sz="1550" dirty="0"/>
          </a:p>
        </p:txBody>
      </p:sp>
      <p:sp>
        <p:nvSpPr>
          <p:cNvPr id="8" name="Text 6"/>
          <p:cNvSpPr txBox="1"/>
          <p:nvPr/>
        </p:nvSpPr>
        <p:spPr>
          <a:xfrm>
            <a:off x="877824" y="2560320"/>
            <a:ext cx="4797400" cy="80467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A student may hold a permanent, term-time and mailing address. Columns address_1 to address_3 would be a repeating group and would cap the number. The type is a lookup, so changing the wording is one row.</a:t>
            </a:r>
            <a:endParaRPr lang="en-US" sz="1200" dirty="0"/>
          </a:p>
        </p:txBody>
      </p:sp>
      <p:sp>
        <p:nvSpPr>
          <p:cNvPr id="9" name="Shape 7"/>
          <p:cNvSpPr/>
          <p:nvPr/>
        </p:nvSpPr>
        <p:spPr>
          <a:xfrm>
            <a:off x="6278728" y="1700784"/>
            <a:ext cx="5272888" cy="1828800"/>
          </a:xfrm>
          <a:prstGeom prst="roundRect">
            <a:avLst>
              <a:gd name="adj" fmla="val 2500"/>
            </a:avLst>
          </a:prstGeom>
          <a:solidFill>
            <a:srgbClr val="F4F7FA"/>
          </a:solidFill>
          <a:ln w="12700">
            <a:solidFill>
              <a:srgbClr val="D9DEE7"/>
            </a:solidFill>
            <a:prstDash val="solid"/>
          </a:ln>
        </p:spPr>
      </p:sp>
      <p:sp>
        <p:nvSpPr>
          <p:cNvPr id="10" name="Text 8"/>
          <p:cNvSpPr txBox="1"/>
          <p:nvPr/>
        </p:nvSpPr>
        <p:spPr>
          <a:xfrm>
            <a:off x="6516472" y="1920240"/>
            <a:ext cx="4797400" cy="219456"/>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DECISION 2</a:t>
            </a:r>
            <a:endParaRPr lang="en-US" sz="1000" dirty="0"/>
          </a:p>
        </p:txBody>
      </p:sp>
      <p:sp>
        <p:nvSpPr>
          <p:cNvPr id="11" name="Text 9"/>
          <p:cNvSpPr txBox="1"/>
          <p:nvPr/>
        </p:nvSpPr>
        <p:spPr>
          <a:xfrm>
            <a:off x="6516472" y="2194560"/>
            <a:ext cx="479740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Archive, never delete</a:t>
            </a:r>
            <a:endParaRPr lang="en-US" sz="1550" dirty="0"/>
          </a:p>
        </p:txBody>
      </p:sp>
      <p:sp>
        <p:nvSpPr>
          <p:cNvPr id="12" name="Text 10"/>
          <p:cNvSpPr txBox="1"/>
          <p:nvPr/>
        </p:nvSpPr>
        <p:spPr>
          <a:xfrm>
            <a:off x="6516472" y="2560320"/>
            <a:ext cx="4797400" cy="80467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Deleting a profile would destroy the attendance, submission and complaint history that references it. A soft delete hides the record and keeps the history the university must retain.</a:t>
            </a:r>
            <a:endParaRPr lang="en-US" sz="1200" dirty="0"/>
          </a:p>
        </p:txBody>
      </p:sp>
      <p:sp>
        <p:nvSpPr>
          <p:cNvPr id="13" name="Shape 11"/>
          <p:cNvSpPr/>
          <p:nvPr/>
        </p:nvSpPr>
        <p:spPr>
          <a:xfrm>
            <a:off x="640080" y="3675888"/>
            <a:ext cx="10911535" cy="1517904"/>
          </a:xfrm>
          <a:prstGeom prst="roundRect">
            <a:avLst>
              <a:gd name="adj" fmla="val 3012"/>
            </a:avLst>
          </a:prstGeom>
          <a:solidFill>
            <a:srgbClr val="FDF4F3"/>
          </a:solidFill>
          <a:ln w="12700">
            <a:solidFill>
              <a:srgbClr val="EBC7C2"/>
            </a:solidFill>
            <a:prstDash val="solid"/>
          </a:ln>
        </p:spPr>
      </p:sp>
      <p:sp>
        <p:nvSpPr>
          <p:cNvPr id="14" name="Text 12"/>
          <p:cNvSpPr txBox="1"/>
          <p:nvPr/>
        </p:nvSpPr>
        <p:spPr>
          <a:xfrm>
            <a:off x="877824" y="3895344"/>
            <a:ext cx="10436047" cy="219456"/>
          </a:xfrm>
          <a:prstGeom prst="rect">
            <a:avLst/>
          </a:prstGeom>
          <a:noFill/>
          <a:ln/>
        </p:spPr>
        <p:txBody>
          <a:bodyPr wrap="square" lIns="0" tIns="0" rIns="0" bIns="0" rtlCol="0" anchor="ctr"/>
          <a:lstStyle/>
          <a:p>
            <a:pPr indent="0" marL="0">
              <a:buNone/>
            </a:pPr>
            <a:r>
              <a:rPr lang="en-US" sz="1000" b="1" spc="120" kern="0" dirty="0">
                <a:solidFill>
                  <a:srgbClr val="C0392B"/>
                </a:solidFill>
                <a:latin typeface="Calibri" pitchFamily="34" charset="0"/>
                <a:ea typeface="Calibri" pitchFamily="34" charset="-122"/>
                <a:cs typeface="Calibri" pitchFamily="34" charset="-120"/>
              </a:rPr>
              <a:t>REJECTED</a:t>
            </a:r>
            <a:endParaRPr lang="en-US" sz="1000" dirty="0"/>
          </a:p>
        </p:txBody>
      </p:sp>
      <p:sp>
        <p:nvSpPr>
          <p:cNvPr id="15" name="Text 13"/>
          <p:cNvSpPr txBox="1"/>
          <p:nvPr/>
        </p:nvSpPr>
        <p:spPr>
          <a:xfrm>
            <a:off x="877824" y="4169664"/>
            <a:ext cx="10436047"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Caching the attendance percentage on the profile</a:t>
            </a:r>
            <a:endParaRPr lang="en-US" sz="1550" dirty="0"/>
          </a:p>
        </p:txBody>
      </p:sp>
      <p:sp>
        <p:nvSpPr>
          <p:cNvPr id="16" name="Text 14"/>
          <p:cNvSpPr txBox="1"/>
          <p:nvPr/>
        </p:nvSpPr>
        <p:spPr>
          <a:xfrm>
            <a:off x="877824" y="4535424"/>
            <a:ext cx="10436047" cy="493776"/>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It would have made reporting trivial. We rejected it because the value drifts the moment any subsystem writes a record without recalculating, and a stale percentage here could bar a student from an examination. The figure is always derived.</a:t>
            </a:r>
            <a:endParaRPr lang="en-US" sz="1200" dirty="0"/>
          </a:p>
        </p:txBody>
      </p:sp>
      <p:sp>
        <p:nvSpPr>
          <p:cNvPr id="17" name="Text 15"/>
          <p:cNvSpPr txBox="1"/>
          <p:nvPr/>
        </p:nvSpPr>
        <p:spPr>
          <a:xfrm>
            <a:off x="640080" y="5340096"/>
            <a:ext cx="10911535" cy="384048"/>
          </a:xfrm>
          <a:prstGeom prst="rect">
            <a:avLst/>
          </a:prstGeom>
          <a:noFill/>
          <a:ln/>
        </p:spPr>
        <p:txBody>
          <a:bodyPr wrap="square" lIns="0" tIns="0" rIns="0" bIns="0" rtlCol="0" anchor="ctr"/>
          <a:lstStyle/>
          <a:p>
            <a:pPr indent="0" marL="0">
              <a:buNone/>
            </a:pPr>
            <a:r>
              <a:rPr lang="en-US" sz="1300" i="1" dirty="0">
                <a:solidFill>
                  <a:srgbClr val="68738A"/>
                </a:solidFill>
                <a:latin typeface="Calibri" pitchFamily="34" charset="0"/>
                <a:ea typeface="Calibri" pitchFamily="34" charset="-122"/>
                <a:cs typeface="Calibri" pitchFamily="34" charset="-120"/>
              </a:rPr>
              <a:t>Correctness lives in the schema: UNIQUE (session, student) makes a duplicate attendance record impossible, not merely unlikely.</a:t>
            </a:r>
            <a:endParaRPr lang="en-US" sz="1300" dirty="0"/>
          </a:p>
        </p:txBody>
      </p:sp>
      <p:sp>
        <p:nvSpPr>
          <p:cNvPr id="18" name="Text 16"/>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1</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What integration actually meant</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Three foreign keys re-pointed, one catalogue merged, and one difficult conversation.</a:t>
            </a:r>
            <a:endParaRPr lang="en-US" sz="1400" dirty="0"/>
          </a:p>
        </p:txBody>
      </p:sp>
      <p:sp>
        <p:nvSpPr>
          <p:cNvPr id="5" name="Text 3"/>
          <p:cNvSpPr txBox="1"/>
          <p:nvPr/>
        </p:nvSpPr>
        <p:spPr>
          <a:xfrm>
            <a:off x="685800" y="1737360"/>
            <a:ext cx="1828800" cy="237744"/>
          </a:xfrm>
          <a:prstGeom prst="rect">
            <a:avLst/>
          </a:prstGeom>
          <a:noFill/>
          <a:ln/>
        </p:spPr>
        <p:txBody>
          <a:bodyPr wrap="square" lIns="0" tIns="0" rIns="0" bIns="0" rtlCol="0" anchor="ctr"/>
          <a:lstStyle/>
          <a:p>
            <a:pPr indent="0" marL="0">
              <a:buNone/>
            </a:pPr>
            <a:r>
              <a:rPr lang="en-US" sz="1000" b="1" spc="120" kern="0" dirty="0">
                <a:solidFill>
                  <a:srgbClr val="68738A"/>
                </a:solidFill>
                <a:latin typeface="Calibri" pitchFamily="34" charset="0"/>
                <a:ea typeface="Calibri" pitchFamily="34" charset="-122"/>
                <a:cs typeface="Calibri" pitchFamily="34" charset="-120"/>
              </a:rPr>
              <a:t>MODULE</a:t>
            </a:r>
            <a:endParaRPr lang="en-US" sz="1000" dirty="0"/>
          </a:p>
        </p:txBody>
      </p:sp>
      <p:sp>
        <p:nvSpPr>
          <p:cNvPr id="6" name="Text 4"/>
          <p:cNvSpPr txBox="1"/>
          <p:nvPr/>
        </p:nvSpPr>
        <p:spPr>
          <a:xfrm>
            <a:off x="2743200" y="1737360"/>
            <a:ext cx="3840480" cy="237744"/>
          </a:xfrm>
          <a:prstGeom prst="rect">
            <a:avLst/>
          </a:prstGeom>
          <a:noFill/>
          <a:ln/>
        </p:spPr>
        <p:txBody>
          <a:bodyPr wrap="square" lIns="0" tIns="0" rIns="0" bIns="0" rtlCol="0" anchor="ctr"/>
          <a:lstStyle/>
          <a:p>
            <a:pPr indent="0" marL="0">
              <a:buNone/>
            </a:pPr>
            <a:r>
              <a:rPr lang="en-US" sz="1000" b="1" spc="120" kern="0" dirty="0">
                <a:solidFill>
                  <a:srgbClr val="C0392B"/>
                </a:solidFill>
                <a:latin typeface="Calibri" pitchFamily="34" charset="0"/>
                <a:ea typeface="Calibri" pitchFamily="34" charset="-122"/>
                <a:cs typeface="Calibri" pitchFamily="34" charset="-120"/>
              </a:rPr>
              <a:t>BEFORE</a:t>
            </a:r>
            <a:endParaRPr lang="en-US" sz="1000" dirty="0"/>
          </a:p>
        </p:txBody>
      </p:sp>
      <p:sp>
        <p:nvSpPr>
          <p:cNvPr id="7" name="Text 5"/>
          <p:cNvSpPr txBox="1"/>
          <p:nvPr/>
        </p:nvSpPr>
        <p:spPr>
          <a:xfrm>
            <a:off x="7040880" y="1737360"/>
            <a:ext cx="3840480" cy="237744"/>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AFTER</a:t>
            </a:r>
            <a:endParaRPr lang="en-US" sz="1000" dirty="0"/>
          </a:p>
        </p:txBody>
      </p:sp>
      <p:sp>
        <p:nvSpPr>
          <p:cNvPr id="8" name="Shape 6"/>
          <p:cNvSpPr/>
          <p:nvPr/>
        </p:nvSpPr>
        <p:spPr>
          <a:xfrm>
            <a:off x="640080" y="2139696"/>
            <a:ext cx="237744" cy="237744"/>
          </a:xfrm>
          <a:prstGeom prst="ellipse">
            <a:avLst/>
          </a:prstGeom>
          <a:solidFill>
            <a:srgbClr val="0F8A72"/>
          </a:solidFill>
          <a:ln/>
        </p:spPr>
      </p:sp>
      <p:sp>
        <p:nvSpPr>
          <p:cNvPr id="9" name="Text 7"/>
          <p:cNvSpPr txBox="1"/>
          <p:nvPr/>
        </p:nvSpPr>
        <p:spPr>
          <a:xfrm>
            <a:off x="987552" y="2084832"/>
            <a:ext cx="1737360" cy="548640"/>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Attendance</a:t>
            </a:r>
            <a:endParaRPr lang="en-US" sz="1400" dirty="0"/>
          </a:p>
        </p:txBody>
      </p:sp>
      <p:sp>
        <p:nvSpPr>
          <p:cNvPr id="10" name="Text 8"/>
          <p:cNvSpPr txBox="1"/>
          <p:nvPr/>
        </p:nvSpPr>
        <p:spPr>
          <a:xfrm>
            <a:off x="2743200" y="2084832"/>
            <a:ext cx="4023360" cy="822960"/>
          </a:xfrm>
          <a:prstGeom prst="rect">
            <a:avLst/>
          </a:prstGeom>
          <a:noFill/>
          <a:ln/>
        </p:spPr>
        <p:txBody>
          <a:bodyPr wrap="square" lIns="0" tIns="0" rIns="0" bIns="0" rtlCol="0" anchor="ctr"/>
          <a:lstStyle/>
          <a:p>
            <a:pPr indent="0" marL="0">
              <a:lnSpc>
                <a:spcPct val="106000"/>
              </a:lnSpc>
              <a:buNone/>
            </a:pPr>
            <a:r>
              <a:rPr lang="en-US" sz="1150" dirty="0">
                <a:solidFill>
                  <a:srgbClr val="68738A"/>
                </a:solidFill>
                <a:latin typeface="Calibri" pitchFamily="34" charset="0"/>
                <a:ea typeface="Calibri" pitchFamily="34" charset="-122"/>
                <a:cs typeface="Calibri" pitchFamily="34" charset="-120"/>
              </a:rPr>
              <a:t>Referenced its own users table; name and email lived in that database.</a:t>
            </a:r>
            <a:endParaRPr lang="en-US" sz="1150" dirty="0"/>
          </a:p>
        </p:txBody>
      </p:sp>
      <p:sp>
        <p:nvSpPr>
          <p:cNvPr id="11" name="Text 9"/>
          <p:cNvSpPr txBox="1"/>
          <p:nvPr/>
        </p:nvSpPr>
        <p:spPr>
          <a:xfrm>
            <a:off x="7040880" y="2084832"/>
            <a:ext cx="4114800" cy="822960"/>
          </a:xfrm>
          <a:prstGeom prst="rect">
            <a:avLst/>
          </a:prstGeom>
          <a:noFill/>
          <a:ln/>
        </p:spPr>
        <p:txBody>
          <a:bodyPr wrap="square" lIns="0" tIns="0" rIns="0" bIns="0" rtlCol="0" anchor="ctr"/>
          <a:lstStyle/>
          <a:p>
            <a:pPr indent="0" marL="0">
              <a:lnSpc>
                <a:spcPct val="106000"/>
              </a:lnSpc>
              <a:buNone/>
            </a:pPr>
            <a:r>
              <a:rPr lang="en-US" sz="1150" dirty="0">
                <a:solidFill>
                  <a:srgbClr val="1A2333"/>
                </a:solidFill>
                <a:latin typeface="Calibri" pitchFamily="34" charset="0"/>
                <a:ea typeface="Calibri" pitchFamily="34" charset="-122"/>
                <a:cs typeface="Calibri" pitchFamily="34" charset="-120"/>
              </a:rPr>
              <a:t>References students.id. Stores no identity data at all.</a:t>
            </a:r>
            <a:endParaRPr lang="en-US" sz="1150" dirty="0"/>
          </a:p>
        </p:txBody>
      </p:sp>
      <p:sp>
        <p:nvSpPr>
          <p:cNvPr id="12" name="Shape 10"/>
          <p:cNvSpPr/>
          <p:nvPr/>
        </p:nvSpPr>
        <p:spPr>
          <a:xfrm>
            <a:off x="640080" y="3200400"/>
            <a:ext cx="237744" cy="237744"/>
          </a:xfrm>
          <a:prstGeom prst="ellipse">
            <a:avLst/>
          </a:prstGeom>
          <a:solidFill>
            <a:srgbClr val="2F6FB5"/>
          </a:solidFill>
          <a:ln/>
        </p:spPr>
      </p:sp>
      <p:sp>
        <p:nvSpPr>
          <p:cNvPr id="13" name="Text 11"/>
          <p:cNvSpPr txBox="1"/>
          <p:nvPr/>
        </p:nvSpPr>
        <p:spPr>
          <a:xfrm>
            <a:off x="987552" y="3145536"/>
            <a:ext cx="1737360" cy="548640"/>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Project submission</a:t>
            </a:r>
            <a:endParaRPr lang="en-US" sz="1400" dirty="0"/>
          </a:p>
        </p:txBody>
      </p:sp>
      <p:sp>
        <p:nvSpPr>
          <p:cNvPr id="14" name="Text 12"/>
          <p:cNvSpPr txBox="1"/>
          <p:nvPr/>
        </p:nvSpPr>
        <p:spPr>
          <a:xfrm>
            <a:off x="2743200" y="3145536"/>
            <a:ext cx="4023360" cy="822960"/>
          </a:xfrm>
          <a:prstGeom prst="rect">
            <a:avLst/>
          </a:prstGeom>
          <a:noFill/>
          <a:ln/>
        </p:spPr>
        <p:txBody>
          <a:bodyPr wrap="square" lIns="0" tIns="0" rIns="0" bIns="0" rtlCol="0" anchor="ctr"/>
          <a:lstStyle/>
          <a:p>
            <a:pPr indent="0" marL="0">
              <a:lnSpc>
                <a:spcPct val="106000"/>
              </a:lnSpc>
              <a:buNone/>
            </a:pPr>
            <a:r>
              <a:rPr lang="en-US" sz="1150" dirty="0">
                <a:solidFill>
                  <a:srgbClr val="68738A"/>
                </a:solidFill>
                <a:latin typeface="Calibri" pitchFamily="34" charset="0"/>
                <a:ea typeface="Calibri" pitchFamily="34" charset="-122"/>
                <a:cs typeface="Calibri" pitchFamily="34" charset="-120"/>
              </a:rPr>
              <a:t>A separate subjects table and a second users table; enrolments recorded twice.</a:t>
            </a:r>
            <a:endParaRPr lang="en-US" sz="1150" dirty="0"/>
          </a:p>
        </p:txBody>
      </p:sp>
      <p:sp>
        <p:nvSpPr>
          <p:cNvPr id="15" name="Text 13"/>
          <p:cNvSpPr txBox="1"/>
          <p:nvPr/>
        </p:nvSpPr>
        <p:spPr>
          <a:xfrm>
            <a:off x="7040880" y="3145536"/>
            <a:ext cx="4114800" cy="822960"/>
          </a:xfrm>
          <a:prstGeom prst="rect">
            <a:avLst/>
          </a:prstGeom>
          <a:noFill/>
          <a:ln/>
        </p:spPr>
        <p:txBody>
          <a:bodyPr wrap="square" lIns="0" tIns="0" rIns="0" bIns="0" rtlCol="0" anchor="ctr"/>
          <a:lstStyle/>
          <a:p>
            <a:pPr indent="0" marL="0">
              <a:lnSpc>
                <a:spcPct val="106000"/>
              </a:lnSpc>
              <a:buNone/>
            </a:pPr>
            <a:r>
              <a:rPr lang="en-US" sz="1150" dirty="0">
                <a:solidFill>
                  <a:srgbClr val="1A2333"/>
                </a:solidFill>
                <a:latin typeface="Calibri" pitchFamily="34" charset="0"/>
                <a:ea typeface="Calibri" pitchFamily="34" charset="-122"/>
                <a:cs typeface="Calibri" pitchFamily="34" charset="-120"/>
              </a:rPr>
              <a:t>Assignments hang off the shared class sections; subjects merged into courses.</a:t>
            </a:r>
            <a:endParaRPr lang="en-US" sz="1150" dirty="0"/>
          </a:p>
        </p:txBody>
      </p:sp>
      <p:sp>
        <p:nvSpPr>
          <p:cNvPr id="16" name="Shape 14"/>
          <p:cNvSpPr/>
          <p:nvPr/>
        </p:nvSpPr>
        <p:spPr>
          <a:xfrm>
            <a:off x="640080" y="4261104"/>
            <a:ext cx="237744" cy="237744"/>
          </a:xfrm>
          <a:prstGeom prst="ellipse">
            <a:avLst/>
          </a:prstGeom>
          <a:solidFill>
            <a:srgbClr val="B8860B"/>
          </a:solidFill>
          <a:ln/>
        </p:spPr>
      </p:sp>
      <p:sp>
        <p:nvSpPr>
          <p:cNvPr id="17" name="Text 15"/>
          <p:cNvSpPr txBox="1"/>
          <p:nvPr/>
        </p:nvSpPr>
        <p:spPr>
          <a:xfrm>
            <a:off x="987552" y="4206240"/>
            <a:ext cx="1737360" cy="548640"/>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Complaints</a:t>
            </a:r>
            <a:endParaRPr lang="en-US" sz="1400" dirty="0"/>
          </a:p>
        </p:txBody>
      </p:sp>
      <p:sp>
        <p:nvSpPr>
          <p:cNvPr id="18" name="Text 16"/>
          <p:cNvSpPr txBox="1"/>
          <p:nvPr/>
        </p:nvSpPr>
        <p:spPr>
          <a:xfrm>
            <a:off x="2743200" y="4206240"/>
            <a:ext cx="4023360" cy="822960"/>
          </a:xfrm>
          <a:prstGeom prst="rect">
            <a:avLst/>
          </a:prstGeom>
          <a:noFill/>
          <a:ln/>
        </p:spPr>
        <p:txBody>
          <a:bodyPr wrap="square" lIns="0" tIns="0" rIns="0" bIns="0" rtlCol="0" anchor="ctr"/>
          <a:lstStyle/>
          <a:p>
            <a:pPr indent="0" marL="0">
              <a:lnSpc>
                <a:spcPct val="106000"/>
              </a:lnSpc>
              <a:buNone/>
            </a:pPr>
            <a:r>
              <a:rPr lang="en-US" sz="1150" dirty="0">
                <a:solidFill>
                  <a:srgbClr val="68738A"/>
                </a:solidFill>
                <a:latin typeface="Calibri" pitchFamily="34" charset="0"/>
                <a:ea typeface="Calibri" pitchFamily="34" charset="-122"/>
                <a:cs typeface="Calibri" pitchFamily="34" charset="-120"/>
              </a:rPr>
              <a:t>Referenced a third users table holding only a name and a role.</a:t>
            </a:r>
            <a:endParaRPr lang="en-US" sz="1150" dirty="0"/>
          </a:p>
        </p:txBody>
      </p:sp>
      <p:sp>
        <p:nvSpPr>
          <p:cNvPr id="19" name="Text 17"/>
          <p:cNvSpPr txBox="1"/>
          <p:nvPr/>
        </p:nvSpPr>
        <p:spPr>
          <a:xfrm>
            <a:off x="7040880" y="4206240"/>
            <a:ext cx="4114800" cy="822960"/>
          </a:xfrm>
          <a:prstGeom prst="rect">
            <a:avLst/>
          </a:prstGeom>
          <a:noFill/>
          <a:ln/>
        </p:spPr>
        <p:txBody>
          <a:bodyPr wrap="square" lIns="0" tIns="0" rIns="0" bIns="0" rtlCol="0" anchor="ctr"/>
          <a:lstStyle/>
          <a:p>
            <a:pPr indent="0" marL="0">
              <a:lnSpc>
                <a:spcPct val="106000"/>
              </a:lnSpc>
              <a:buNone/>
            </a:pPr>
            <a:r>
              <a:rPr lang="en-US" sz="1150" dirty="0">
                <a:solidFill>
                  <a:srgbClr val="1A2333"/>
                </a:solidFill>
                <a:latin typeface="Calibri" pitchFamily="34" charset="0"/>
                <a:ea typeface="Calibri" pitchFamily="34" charset="-122"/>
                <a:cs typeface="Calibri" pitchFamily="34" charset="-120"/>
              </a:rPr>
              <a:t>References students.id, so a case resolves to the full profile.</a:t>
            </a:r>
            <a:endParaRPr lang="en-US" sz="1150" dirty="0"/>
          </a:p>
        </p:txBody>
      </p:sp>
      <p:sp>
        <p:nvSpPr>
          <p:cNvPr id="20" name="Shape 18"/>
          <p:cNvSpPr/>
          <p:nvPr/>
        </p:nvSpPr>
        <p:spPr>
          <a:xfrm>
            <a:off x="640080" y="5029200"/>
            <a:ext cx="10911535" cy="1060704"/>
          </a:xfrm>
          <a:prstGeom prst="roundRect">
            <a:avLst>
              <a:gd name="adj" fmla="val 4310"/>
            </a:avLst>
          </a:prstGeom>
          <a:solidFill>
            <a:srgbClr val="F4F7FA"/>
          </a:solidFill>
          <a:ln w="12700">
            <a:solidFill>
              <a:srgbClr val="D9DEE7"/>
            </a:solidFill>
            <a:prstDash val="solid"/>
          </a:ln>
        </p:spPr>
      </p:sp>
      <p:sp>
        <p:nvSpPr>
          <p:cNvPr id="21" name="Text 19"/>
          <p:cNvSpPr txBox="1"/>
          <p:nvPr/>
        </p:nvSpPr>
        <p:spPr>
          <a:xfrm>
            <a:off x="877824" y="5248656"/>
            <a:ext cx="10436047" cy="310896"/>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The hardest part was not technical</a:t>
            </a:r>
            <a:endParaRPr lang="en-US" sz="1450" dirty="0"/>
          </a:p>
        </p:txBody>
      </p:sp>
      <p:sp>
        <p:nvSpPr>
          <p:cNvPr id="22" name="Text 20"/>
          <p:cNvSpPr txBox="1"/>
          <p:nvPr/>
        </p:nvSpPr>
        <p:spPr>
          <a:xfrm>
            <a:off x="877824" y="5614416"/>
            <a:ext cx="10436047" cy="310896"/>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One of us called a taught unit a course, another called it a subject. Agreeing one definition took longer than changing the code.</a:t>
            </a:r>
            <a:endParaRPr lang="en-US" sz="1200" dirty="0"/>
          </a:p>
        </p:txBody>
      </p:sp>
      <p:sp>
        <p:nvSpPr>
          <p:cNvPr id="23" name="Text 21"/>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2</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Reading three modules without three hundred queries</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The obvious implementation works for one student and collapses for a cohort.</a:t>
            </a:r>
            <a:endParaRPr lang="en-US" sz="1400" dirty="0"/>
          </a:p>
        </p:txBody>
      </p:sp>
      <p:sp>
        <p:nvSpPr>
          <p:cNvPr id="5" name="Shape 3"/>
          <p:cNvSpPr/>
          <p:nvPr/>
        </p:nvSpPr>
        <p:spPr>
          <a:xfrm>
            <a:off x="640080" y="1737360"/>
            <a:ext cx="5227168" cy="1920240"/>
          </a:xfrm>
          <a:prstGeom prst="roundRect">
            <a:avLst>
              <a:gd name="adj" fmla="val 2381"/>
            </a:avLst>
          </a:prstGeom>
          <a:solidFill>
            <a:srgbClr val="FDF4F3"/>
          </a:solidFill>
          <a:ln w="12700">
            <a:solidFill>
              <a:srgbClr val="EBC7C2"/>
            </a:solidFill>
            <a:prstDash val="solid"/>
          </a:ln>
        </p:spPr>
      </p:sp>
      <p:sp>
        <p:nvSpPr>
          <p:cNvPr id="6" name="Text 4"/>
          <p:cNvSpPr txBox="1"/>
          <p:nvPr/>
        </p:nvSpPr>
        <p:spPr>
          <a:xfrm>
            <a:off x="877824" y="1956816"/>
            <a:ext cx="4751680" cy="219456"/>
          </a:xfrm>
          <a:prstGeom prst="rect">
            <a:avLst/>
          </a:prstGeom>
          <a:noFill/>
          <a:ln/>
        </p:spPr>
        <p:txBody>
          <a:bodyPr wrap="square" lIns="0" tIns="0" rIns="0" bIns="0" rtlCol="0" anchor="ctr"/>
          <a:lstStyle/>
          <a:p>
            <a:pPr indent="0" marL="0">
              <a:buNone/>
            </a:pPr>
            <a:r>
              <a:rPr lang="en-US" sz="1000" b="1" spc="120" kern="0" dirty="0">
                <a:solidFill>
                  <a:srgbClr val="C0392B"/>
                </a:solidFill>
                <a:latin typeface="Calibri" pitchFamily="34" charset="0"/>
                <a:ea typeface="Calibri" pitchFamily="34" charset="-122"/>
                <a:cs typeface="Calibri" pitchFamily="34" charset="-120"/>
              </a:rPr>
              <a:t>THE OBVIOUS WAY</a:t>
            </a:r>
            <a:endParaRPr lang="en-US" sz="1000" dirty="0"/>
          </a:p>
        </p:txBody>
      </p:sp>
      <p:sp>
        <p:nvSpPr>
          <p:cNvPr id="7" name="Text 5"/>
          <p:cNvSpPr txBox="1"/>
          <p:nvPr/>
        </p:nvSpPr>
        <p:spPr>
          <a:xfrm>
            <a:off x="877824" y="2231136"/>
            <a:ext cx="475168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Query each module per student</a:t>
            </a:r>
            <a:endParaRPr lang="en-US" sz="1550" dirty="0"/>
          </a:p>
        </p:txBody>
      </p:sp>
      <p:sp>
        <p:nvSpPr>
          <p:cNvPr id="8" name="Text 6"/>
          <p:cNvSpPr txBox="1"/>
          <p:nvPr/>
        </p:nvSpPr>
        <p:spPr>
          <a:xfrm>
            <a:off x="877824" y="2596896"/>
            <a:ext cx="4751680" cy="89611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One profile costs three queries, which is fine. A sixty-student programme report costs one hundred and eighty. The cost grows with enrolment, so it passes a demo and fails in use.</a:t>
            </a:r>
            <a:endParaRPr lang="en-US" sz="1200" dirty="0"/>
          </a:p>
        </p:txBody>
      </p:sp>
      <p:sp>
        <p:nvSpPr>
          <p:cNvPr id="9" name="Shape 7"/>
          <p:cNvSpPr/>
          <p:nvPr/>
        </p:nvSpPr>
        <p:spPr>
          <a:xfrm>
            <a:off x="6324448" y="1737360"/>
            <a:ext cx="5227168" cy="1920240"/>
          </a:xfrm>
          <a:prstGeom prst="roundRect">
            <a:avLst>
              <a:gd name="adj" fmla="val 2381"/>
            </a:avLst>
          </a:prstGeom>
          <a:solidFill>
            <a:srgbClr val="F2F9F5"/>
          </a:solidFill>
          <a:ln w="12700">
            <a:solidFill>
              <a:srgbClr val="BFDCCB"/>
            </a:solidFill>
            <a:prstDash val="solid"/>
          </a:ln>
        </p:spPr>
      </p:sp>
      <p:sp>
        <p:nvSpPr>
          <p:cNvPr id="10" name="Text 8"/>
          <p:cNvSpPr txBox="1"/>
          <p:nvPr/>
        </p:nvSpPr>
        <p:spPr>
          <a:xfrm>
            <a:off x="6562192" y="1956816"/>
            <a:ext cx="4751680" cy="219456"/>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WHAT WE DO</a:t>
            </a:r>
            <a:endParaRPr lang="en-US" sz="1000" dirty="0"/>
          </a:p>
        </p:txBody>
      </p:sp>
      <p:sp>
        <p:nvSpPr>
          <p:cNvPr id="11" name="Text 9"/>
          <p:cNvSpPr txBox="1"/>
          <p:nvPr/>
        </p:nvSpPr>
        <p:spPr>
          <a:xfrm>
            <a:off x="6562192" y="2231136"/>
            <a:ext cx="475168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One grouped query per module</a:t>
            </a:r>
            <a:endParaRPr lang="en-US" sz="1550" dirty="0"/>
          </a:p>
        </p:txBody>
      </p:sp>
      <p:sp>
        <p:nvSpPr>
          <p:cNvPr id="12" name="Text 10"/>
          <p:cNvSpPr txBox="1"/>
          <p:nvPr/>
        </p:nvSpPr>
        <p:spPr>
          <a:xfrm>
            <a:off x="6562192" y="2596896"/>
            <a:ext cx="4751680" cy="89611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SQL produces every counter in one pass per module using conditional sums, keyed by student. Sixty students and six hundred cost the same three queries.</a:t>
            </a:r>
            <a:endParaRPr lang="en-US" sz="1200" dirty="0"/>
          </a:p>
        </p:txBody>
      </p:sp>
      <p:sp>
        <p:nvSpPr>
          <p:cNvPr id="13" name="Shape 11"/>
          <p:cNvSpPr/>
          <p:nvPr/>
        </p:nvSpPr>
        <p:spPr>
          <a:xfrm>
            <a:off x="640080" y="3931920"/>
            <a:ext cx="3442106" cy="1280160"/>
          </a:xfrm>
          <a:prstGeom prst="roundRect">
            <a:avLst>
              <a:gd name="adj" fmla="val 3571"/>
            </a:avLst>
          </a:prstGeom>
          <a:solidFill>
            <a:srgbClr val="F4F7FA"/>
          </a:solidFill>
          <a:ln w="12700">
            <a:solidFill>
              <a:srgbClr val="D9DEE7"/>
            </a:solidFill>
            <a:prstDash val="solid"/>
          </a:ln>
        </p:spPr>
      </p:sp>
      <p:sp>
        <p:nvSpPr>
          <p:cNvPr id="14" name="Text 12"/>
          <p:cNvSpPr txBox="1"/>
          <p:nvPr/>
        </p:nvSpPr>
        <p:spPr>
          <a:xfrm>
            <a:off x="896112" y="4078224"/>
            <a:ext cx="2930042" cy="603504"/>
          </a:xfrm>
          <a:prstGeom prst="rect">
            <a:avLst/>
          </a:prstGeom>
          <a:noFill/>
          <a:ln/>
        </p:spPr>
        <p:txBody>
          <a:bodyPr wrap="square" lIns="0" tIns="0" rIns="0" bIns="0" rtlCol="0" anchor="ctr"/>
          <a:lstStyle/>
          <a:p>
            <a:pPr indent="0" marL="0">
              <a:buNone/>
            </a:pPr>
            <a:r>
              <a:rPr lang="en-US" sz="3800" b="1" dirty="0">
                <a:solidFill>
                  <a:srgbClr val="C0392B"/>
                </a:solidFill>
                <a:latin typeface="Cambria" pitchFamily="34" charset="0"/>
                <a:ea typeface="Cambria" pitchFamily="34" charset="-122"/>
                <a:cs typeface="Cambria" pitchFamily="34" charset="-120"/>
              </a:rPr>
              <a:t>180</a:t>
            </a:r>
            <a:endParaRPr lang="en-US" sz="3800" dirty="0"/>
          </a:p>
        </p:txBody>
      </p:sp>
      <p:sp>
        <p:nvSpPr>
          <p:cNvPr id="15" name="Text 13"/>
          <p:cNvSpPr txBox="1"/>
          <p:nvPr/>
        </p:nvSpPr>
        <p:spPr>
          <a:xfrm>
            <a:off x="896112" y="470001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8738A"/>
                </a:solidFill>
                <a:latin typeface="Calibri" pitchFamily="34" charset="0"/>
                <a:ea typeface="Calibri" pitchFamily="34" charset="-122"/>
                <a:cs typeface="Calibri" pitchFamily="34" charset="-120"/>
              </a:rPr>
              <a:t>queries the naive way</a:t>
            </a:r>
            <a:endParaRPr lang="en-US" sz="1150" dirty="0"/>
          </a:p>
        </p:txBody>
      </p:sp>
      <p:sp>
        <p:nvSpPr>
          <p:cNvPr id="16" name="Shape 14"/>
          <p:cNvSpPr/>
          <p:nvPr/>
        </p:nvSpPr>
        <p:spPr>
          <a:xfrm>
            <a:off x="4374794" y="3931920"/>
            <a:ext cx="3442106" cy="1280160"/>
          </a:xfrm>
          <a:prstGeom prst="roundRect">
            <a:avLst>
              <a:gd name="adj" fmla="val 3571"/>
            </a:avLst>
          </a:prstGeom>
          <a:solidFill>
            <a:srgbClr val="F4F7FA"/>
          </a:solidFill>
          <a:ln w="12700">
            <a:solidFill>
              <a:srgbClr val="D9DEE7"/>
            </a:solidFill>
            <a:prstDash val="solid"/>
          </a:ln>
        </p:spPr>
      </p:sp>
      <p:sp>
        <p:nvSpPr>
          <p:cNvPr id="17" name="Text 15"/>
          <p:cNvSpPr txBox="1"/>
          <p:nvPr/>
        </p:nvSpPr>
        <p:spPr>
          <a:xfrm>
            <a:off x="4630826" y="4078224"/>
            <a:ext cx="2930042" cy="603504"/>
          </a:xfrm>
          <a:prstGeom prst="rect">
            <a:avLst/>
          </a:prstGeom>
          <a:noFill/>
          <a:ln/>
        </p:spPr>
        <p:txBody>
          <a:bodyPr wrap="square" lIns="0" tIns="0" rIns="0" bIns="0" rtlCol="0" anchor="ctr"/>
          <a:lstStyle/>
          <a:p>
            <a:pPr indent="0" marL="0">
              <a:buNone/>
            </a:pPr>
            <a:r>
              <a:rPr lang="en-US" sz="3800" b="1" dirty="0">
                <a:solidFill>
                  <a:srgbClr val="0F8A72"/>
                </a:solidFill>
                <a:latin typeface="Cambria" pitchFamily="34" charset="0"/>
                <a:ea typeface="Cambria" pitchFamily="34" charset="-122"/>
                <a:cs typeface="Cambria" pitchFamily="34" charset="-120"/>
              </a:rPr>
              <a:t>3</a:t>
            </a:r>
            <a:endParaRPr lang="en-US" sz="3800" dirty="0"/>
          </a:p>
        </p:txBody>
      </p:sp>
      <p:sp>
        <p:nvSpPr>
          <p:cNvPr id="18" name="Text 16"/>
          <p:cNvSpPr txBox="1"/>
          <p:nvPr/>
        </p:nvSpPr>
        <p:spPr>
          <a:xfrm>
            <a:off x="4630826" y="470001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8738A"/>
                </a:solidFill>
                <a:latin typeface="Calibri" pitchFamily="34" charset="0"/>
                <a:ea typeface="Calibri" pitchFamily="34" charset="-122"/>
                <a:cs typeface="Calibri" pitchFamily="34" charset="-120"/>
              </a:rPr>
              <a:t>queries our way</a:t>
            </a:r>
            <a:endParaRPr lang="en-US" sz="1150" dirty="0"/>
          </a:p>
        </p:txBody>
      </p:sp>
      <p:sp>
        <p:nvSpPr>
          <p:cNvPr id="19" name="Shape 17"/>
          <p:cNvSpPr/>
          <p:nvPr/>
        </p:nvSpPr>
        <p:spPr>
          <a:xfrm>
            <a:off x="8109509" y="3931920"/>
            <a:ext cx="3442106" cy="1280160"/>
          </a:xfrm>
          <a:prstGeom prst="roundRect">
            <a:avLst>
              <a:gd name="adj" fmla="val 3571"/>
            </a:avLst>
          </a:prstGeom>
          <a:solidFill>
            <a:srgbClr val="F4F7FA"/>
          </a:solidFill>
          <a:ln w="12700">
            <a:solidFill>
              <a:srgbClr val="D9DEE7"/>
            </a:solidFill>
            <a:prstDash val="solid"/>
          </a:ln>
        </p:spPr>
      </p:sp>
      <p:sp>
        <p:nvSpPr>
          <p:cNvPr id="20" name="Text 18"/>
          <p:cNvSpPr txBox="1"/>
          <p:nvPr/>
        </p:nvSpPr>
        <p:spPr>
          <a:xfrm>
            <a:off x="8365541" y="4078224"/>
            <a:ext cx="2930042" cy="603504"/>
          </a:xfrm>
          <a:prstGeom prst="rect">
            <a:avLst/>
          </a:prstGeom>
          <a:noFill/>
          <a:ln/>
        </p:spPr>
        <p:txBody>
          <a:bodyPr wrap="square" lIns="0" tIns="0" rIns="0" bIns="0" rtlCol="0" anchor="ctr"/>
          <a:lstStyle/>
          <a:p>
            <a:pPr indent="0" marL="0">
              <a:buNone/>
            </a:pPr>
            <a:r>
              <a:rPr lang="en-US" sz="3800" b="1" dirty="0">
                <a:solidFill>
                  <a:srgbClr val="14243D"/>
                </a:solidFill>
                <a:latin typeface="Cambria" pitchFamily="34" charset="0"/>
                <a:ea typeface="Cambria" pitchFamily="34" charset="-122"/>
                <a:cs typeface="Cambria" pitchFamily="34" charset="-120"/>
              </a:rPr>
              <a:t>129</a:t>
            </a:r>
            <a:endParaRPr lang="en-US" sz="3800" dirty="0"/>
          </a:p>
        </p:txBody>
      </p:sp>
      <p:sp>
        <p:nvSpPr>
          <p:cNvPr id="21" name="Text 19"/>
          <p:cNvSpPr txBox="1"/>
          <p:nvPr/>
        </p:nvSpPr>
        <p:spPr>
          <a:xfrm>
            <a:off x="8365541" y="470001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8738A"/>
                </a:solidFill>
                <a:latin typeface="Calibri" pitchFamily="34" charset="0"/>
                <a:ea typeface="Calibri" pitchFamily="34" charset="-122"/>
                <a:cs typeface="Calibri" pitchFamily="34" charset="-120"/>
              </a:rPr>
              <a:t>tests, one asserting exactly this</a:t>
            </a:r>
            <a:endParaRPr lang="en-US" sz="1150" dirty="0"/>
          </a:p>
        </p:txBody>
      </p:sp>
      <p:sp>
        <p:nvSpPr>
          <p:cNvPr id="22" name="Text 20"/>
          <p:cNvSpPr txBox="1"/>
          <p:nvPr/>
        </p:nvSpPr>
        <p:spPr>
          <a:xfrm>
            <a:off x="640080" y="5394960"/>
            <a:ext cx="10911535" cy="365760"/>
          </a:xfrm>
          <a:prstGeom prst="rect">
            <a:avLst/>
          </a:prstGeom>
          <a:noFill/>
          <a:ln/>
        </p:spPr>
        <p:txBody>
          <a:bodyPr wrap="square" lIns="0" tIns="0" rIns="0" bIns="0" rtlCol="0" anchor="ctr"/>
          <a:lstStyle/>
          <a:p>
            <a:pPr indent="0" marL="0">
              <a:buNone/>
            </a:pPr>
            <a:r>
              <a:rPr lang="en-US" sz="1300" i="1" dirty="0">
                <a:solidFill>
                  <a:srgbClr val="14243D"/>
                </a:solidFill>
                <a:latin typeface="Calibri" pitchFamily="34" charset="0"/>
                <a:ea typeface="Calibri" pitchFamily="34" charset="-122"/>
                <a:cs typeface="Calibri" pitchFamily="34" charset="-120"/>
              </a:rPr>
              <a:t>The test counts the queries, so a future change that reintroduces a loop breaks the build.</a:t>
            </a:r>
            <a:endParaRPr lang="en-US" sz="1300" dirty="0"/>
          </a:p>
        </p:txBody>
      </p:sp>
      <p:sp>
        <p:nvSpPr>
          <p:cNvPr id="23" name="Text 21"/>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2</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43D"/>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640080" y="1280160"/>
            <a:ext cx="10911535" cy="310896"/>
          </a:xfrm>
          <a:prstGeom prst="rect">
            <a:avLst/>
          </a:prstGeom>
          <a:noFill/>
          <a:ln/>
        </p:spPr>
        <p:txBody>
          <a:bodyPr wrap="square" lIns="0" tIns="0" rIns="0" bIns="0" rtlCol="0" anchor="ctr"/>
          <a:lstStyle/>
          <a:p>
            <a:pPr indent="0" marL="0">
              <a:buNone/>
            </a:pPr>
            <a:r>
              <a:rPr lang="en-US" sz="1250" b="1" spc="260" kern="0" dirty="0">
                <a:solidFill>
                  <a:srgbClr val="0F8A72"/>
                </a:solidFill>
                <a:latin typeface="Calibri" pitchFamily="34" charset="0"/>
                <a:ea typeface="Calibri" pitchFamily="34" charset="-122"/>
                <a:cs typeface="Calibri" pitchFamily="34" charset="-120"/>
              </a:rPr>
              <a:t>LIVE DEMONSTRATION</a:t>
            </a:r>
            <a:endParaRPr lang="en-US" sz="1250" dirty="0"/>
          </a:p>
        </p:txBody>
      </p:sp>
      <p:sp>
        <p:nvSpPr>
          <p:cNvPr id="4" name="Text 2"/>
          <p:cNvSpPr txBox="1"/>
          <p:nvPr/>
        </p:nvSpPr>
        <p:spPr>
          <a:xfrm>
            <a:off x="640080" y="1700784"/>
            <a:ext cx="6949440" cy="713232"/>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system, running</a:t>
            </a:r>
            <a:endParaRPr lang="en-US" sz="3800" dirty="0"/>
          </a:p>
        </p:txBody>
      </p:sp>
      <p:sp>
        <p:nvSpPr>
          <p:cNvPr id="5" name="Text 3"/>
          <p:cNvSpPr txBox="1"/>
          <p:nvPr/>
        </p:nvSpPr>
        <p:spPr>
          <a:xfrm>
            <a:off x="640080" y="2487168"/>
            <a:ext cx="6949440" cy="457200"/>
          </a:xfrm>
          <a:prstGeom prst="rect">
            <a:avLst/>
          </a:prstGeom>
          <a:noFill/>
          <a:ln/>
        </p:spPr>
        <p:txBody>
          <a:bodyPr wrap="square" lIns="0" tIns="0" rIns="0" bIns="0" rtlCol="0" anchor="ctr"/>
          <a:lstStyle/>
          <a:p>
            <a:pPr indent="0" marL="0">
              <a:buNone/>
            </a:pPr>
            <a:r>
              <a:rPr lang="en-US" sz="1400" dirty="0">
                <a:solidFill>
                  <a:srgbClr val="B9C6DB"/>
                </a:solidFill>
                <a:latin typeface="Calibri" pitchFamily="34" charset="0"/>
                <a:ea typeface="Calibri" pitchFamily="34" charset="-122"/>
                <a:cs typeface="Calibri" pitchFamily="34" charset="-120"/>
              </a:rPr>
              <a:t>45 profiles, 8 class sections, 104 meetings, 2,160 marks, 392 submissions and 12 cases.</a:t>
            </a:r>
            <a:endParaRPr lang="en-US" sz="1400" dirty="0"/>
          </a:p>
        </p:txBody>
      </p:sp>
      <p:sp>
        <p:nvSpPr>
          <p:cNvPr id="6" name="Shape 4"/>
          <p:cNvSpPr/>
          <p:nvPr/>
        </p:nvSpPr>
        <p:spPr>
          <a:xfrm>
            <a:off x="640080" y="3273552"/>
            <a:ext cx="274320" cy="274320"/>
          </a:xfrm>
          <a:prstGeom prst="ellipse">
            <a:avLst/>
          </a:prstGeom>
          <a:solidFill>
            <a:srgbClr val="0F8A72"/>
          </a:solidFill>
          <a:ln/>
        </p:spPr>
      </p:sp>
      <p:sp>
        <p:nvSpPr>
          <p:cNvPr id="7" name="Text 5"/>
          <p:cNvSpPr txBox="1"/>
          <p:nvPr/>
        </p:nvSpPr>
        <p:spPr>
          <a:xfrm>
            <a:off x="640080" y="3305556"/>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060704" y="3218688"/>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Registry dashboard</a:t>
            </a:r>
            <a:endParaRPr lang="en-US" sz="1400" dirty="0"/>
          </a:p>
        </p:txBody>
      </p:sp>
      <p:sp>
        <p:nvSpPr>
          <p:cNvPr id="9" name="Text 7"/>
          <p:cNvSpPr txBox="1"/>
          <p:nvPr/>
        </p:nvSpPr>
        <p:spPr>
          <a:xfrm>
            <a:off x="1060704" y="3483864"/>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Three module signals on one screen</a:t>
            </a:r>
            <a:endParaRPr lang="en-US" sz="1150" dirty="0"/>
          </a:p>
        </p:txBody>
      </p:sp>
      <p:sp>
        <p:nvSpPr>
          <p:cNvPr id="10" name="Shape 8"/>
          <p:cNvSpPr/>
          <p:nvPr/>
        </p:nvSpPr>
        <p:spPr>
          <a:xfrm>
            <a:off x="6242152" y="3273552"/>
            <a:ext cx="274320" cy="274320"/>
          </a:xfrm>
          <a:prstGeom prst="ellipse">
            <a:avLst/>
          </a:prstGeom>
          <a:solidFill>
            <a:srgbClr val="B8860B"/>
          </a:solidFill>
          <a:ln/>
        </p:spPr>
      </p:sp>
      <p:sp>
        <p:nvSpPr>
          <p:cNvPr id="11" name="Text 9"/>
          <p:cNvSpPr txBox="1"/>
          <p:nvPr/>
        </p:nvSpPr>
        <p:spPr>
          <a:xfrm>
            <a:off x="6242152" y="3305556"/>
            <a:ext cx="274320" cy="237744"/>
          </a:xfrm>
          <a:prstGeom prst="rect">
            <a:avLst/>
          </a:prstGeom>
          <a:noFill/>
          <a:ln/>
        </p:spPr>
        <p:txBody>
          <a:bodyPr wrap="square" lIns="0" tIns="0" rIns="0" bIns="0" rtlCol="0" anchor="ctr"/>
          <a:lstStyle/>
          <a:p>
            <a:pPr algn="ctr" indent="0" marL="0">
              <a:buNone/>
            </a:pPr>
            <a:r>
              <a:rPr lang="en-US" sz="1100" b="1" dirty="0">
                <a:solidFill>
                  <a:srgbClr val="14243D"/>
                </a:solidFill>
                <a:latin typeface="Cambria" pitchFamily="34" charset="0"/>
                <a:ea typeface="Cambria" pitchFamily="34" charset="-122"/>
                <a:cs typeface="Cambria" pitchFamily="34" charset="-120"/>
              </a:rPr>
              <a:t>2</a:t>
            </a:r>
            <a:endParaRPr lang="en-US" sz="1100" dirty="0"/>
          </a:p>
        </p:txBody>
      </p:sp>
      <p:sp>
        <p:nvSpPr>
          <p:cNvPr id="12" name="Text 10"/>
          <p:cNvSpPr txBox="1"/>
          <p:nvPr/>
        </p:nvSpPr>
        <p:spPr>
          <a:xfrm>
            <a:off x="6662776" y="3218688"/>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Student profile</a:t>
            </a:r>
            <a:endParaRPr lang="en-US" sz="1400" dirty="0"/>
          </a:p>
        </p:txBody>
      </p:sp>
      <p:sp>
        <p:nvSpPr>
          <p:cNvPr id="13" name="Text 11"/>
          <p:cNvSpPr txBox="1"/>
          <p:nvPr/>
        </p:nvSpPr>
        <p:spPr>
          <a:xfrm>
            <a:off x="6662776" y="3483864"/>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All three modules on one record</a:t>
            </a:r>
            <a:endParaRPr lang="en-US" sz="1150" dirty="0"/>
          </a:p>
        </p:txBody>
      </p:sp>
      <p:sp>
        <p:nvSpPr>
          <p:cNvPr id="14" name="Shape 12"/>
          <p:cNvSpPr/>
          <p:nvPr/>
        </p:nvSpPr>
        <p:spPr>
          <a:xfrm>
            <a:off x="640080" y="4059936"/>
            <a:ext cx="274320" cy="274320"/>
          </a:xfrm>
          <a:prstGeom prst="ellipse">
            <a:avLst/>
          </a:prstGeom>
          <a:solidFill>
            <a:srgbClr val="0F8A72"/>
          </a:solidFill>
          <a:ln/>
        </p:spPr>
      </p:sp>
      <p:sp>
        <p:nvSpPr>
          <p:cNvPr id="15" name="Text 13"/>
          <p:cNvSpPr txBox="1"/>
          <p:nvPr/>
        </p:nvSpPr>
        <p:spPr>
          <a:xfrm>
            <a:off x="640080" y="4091940"/>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6" name="Text 14"/>
          <p:cNvSpPr txBox="1"/>
          <p:nvPr/>
        </p:nvSpPr>
        <p:spPr>
          <a:xfrm>
            <a:off x="1060704" y="400507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QR check-in</a:t>
            </a:r>
            <a:endParaRPr lang="en-US" sz="1400" dirty="0"/>
          </a:p>
        </p:txBody>
      </p:sp>
      <p:sp>
        <p:nvSpPr>
          <p:cNvPr id="17" name="Text 15"/>
          <p:cNvSpPr txBox="1"/>
          <p:nvPr/>
        </p:nvSpPr>
        <p:spPr>
          <a:xfrm>
            <a:off x="1060704" y="4270248"/>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Students mark themselves, live</a:t>
            </a:r>
            <a:endParaRPr lang="en-US" sz="1150" dirty="0"/>
          </a:p>
        </p:txBody>
      </p:sp>
      <p:sp>
        <p:nvSpPr>
          <p:cNvPr id="18" name="Shape 16"/>
          <p:cNvSpPr/>
          <p:nvPr/>
        </p:nvSpPr>
        <p:spPr>
          <a:xfrm>
            <a:off x="6242152" y="4059936"/>
            <a:ext cx="274320" cy="274320"/>
          </a:xfrm>
          <a:prstGeom prst="ellipse">
            <a:avLst/>
          </a:prstGeom>
          <a:solidFill>
            <a:srgbClr val="B8860B"/>
          </a:solidFill>
          <a:ln/>
        </p:spPr>
      </p:sp>
      <p:sp>
        <p:nvSpPr>
          <p:cNvPr id="19" name="Text 17"/>
          <p:cNvSpPr txBox="1"/>
          <p:nvPr/>
        </p:nvSpPr>
        <p:spPr>
          <a:xfrm>
            <a:off x="6242152" y="4091940"/>
            <a:ext cx="274320" cy="237744"/>
          </a:xfrm>
          <a:prstGeom prst="rect">
            <a:avLst/>
          </a:prstGeom>
          <a:noFill/>
          <a:ln/>
        </p:spPr>
        <p:txBody>
          <a:bodyPr wrap="square" lIns="0" tIns="0" rIns="0" bIns="0" rtlCol="0" anchor="ctr"/>
          <a:lstStyle/>
          <a:p>
            <a:pPr algn="ctr" indent="0" marL="0">
              <a:buNone/>
            </a:pPr>
            <a:r>
              <a:rPr lang="en-US" sz="1100" b="1" dirty="0">
                <a:solidFill>
                  <a:srgbClr val="14243D"/>
                </a:solidFill>
                <a:latin typeface="Cambria" pitchFamily="34" charset="0"/>
                <a:ea typeface="Cambria" pitchFamily="34" charset="-122"/>
                <a:cs typeface="Cambria" pitchFamily="34" charset="-120"/>
              </a:rPr>
              <a:t>4</a:t>
            </a:r>
            <a:endParaRPr lang="en-US" sz="1100" dirty="0"/>
          </a:p>
        </p:txBody>
      </p:sp>
      <p:sp>
        <p:nvSpPr>
          <p:cNvPr id="20" name="Text 18"/>
          <p:cNvSpPr txBox="1"/>
          <p:nvPr/>
        </p:nvSpPr>
        <p:spPr>
          <a:xfrm>
            <a:off x="6662776" y="400507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Close the session</a:t>
            </a:r>
            <a:endParaRPr lang="en-US" sz="1400" dirty="0"/>
          </a:p>
        </p:txBody>
      </p:sp>
      <p:sp>
        <p:nvSpPr>
          <p:cNvPr id="21" name="Text 19"/>
          <p:cNvSpPr txBox="1"/>
          <p:nvPr/>
        </p:nvSpPr>
        <p:spPr>
          <a:xfrm>
            <a:off x="6662776" y="4270248"/>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No-shows marked absent in one write</a:t>
            </a:r>
            <a:endParaRPr lang="en-US" sz="1150" dirty="0"/>
          </a:p>
        </p:txBody>
      </p:sp>
      <p:sp>
        <p:nvSpPr>
          <p:cNvPr id="22" name="Shape 20"/>
          <p:cNvSpPr/>
          <p:nvPr/>
        </p:nvSpPr>
        <p:spPr>
          <a:xfrm>
            <a:off x="640080" y="4846320"/>
            <a:ext cx="274320" cy="274320"/>
          </a:xfrm>
          <a:prstGeom prst="ellipse">
            <a:avLst/>
          </a:prstGeom>
          <a:solidFill>
            <a:srgbClr val="0F8A72"/>
          </a:solidFill>
          <a:ln/>
        </p:spPr>
      </p:sp>
      <p:sp>
        <p:nvSpPr>
          <p:cNvPr id="23" name="Text 21"/>
          <p:cNvSpPr txBox="1"/>
          <p:nvPr/>
        </p:nvSpPr>
        <p:spPr>
          <a:xfrm>
            <a:off x="640080" y="4878324"/>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4" name="Text 22"/>
          <p:cNvSpPr txBox="1"/>
          <p:nvPr/>
        </p:nvSpPr>
        <p:spPr>
          <a:xfrm>
            <a:off x="1060704" y="4791456"/>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and collect</a:t>
            </a:r>
            <a:endParaRPr lang="en-US" sz="1400" dirty="0"/>
          </a:p>
        </p:txBody>
      </p:sp>
      <p:sp>
        <p:nvSpPr>
          <p:cNvPr id="25" name="Text 23"/>
          <p:cNvSpPr txBox="1"/>
          <p:nvPr/>
        </p:nvSpPr>
        <p:spPr>
          <a:xfrm>
            <a:off x="1060704" y="5056632"/>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Student uploads, lecturer downloads</a:t>
            </a:r>
            <a:endParaRPr lang="en-US" sz="1150" dirty="0"/>
          </a:p>
        </p:txBody>
      </p:sp>
      <p:sp>
        <p:nvSpPr>
          <p:cNvPr id="26" name="Shape 24"/>
          <p:cNvSpPr/>
          <p:nvPr/>
        </p:nvSpPr>
        <p:spPr>
          <a:xfrm>
            <a:off x="6242152" y="4846320"/>
            <a:ext cx="274320" cy="274320"/>
          </a:xfrm>
          <a:prstGeom prst="ellipse">
            <a:avLst/>
          </a:prstGeom>
          <a:solidFill>
            <a:srgbClr val="B8860B"/>
          </a:solidFill>
          <a:ln/>
        </p:spPr>
      </p:sp>
      <p:sp>
        <p:nvSpPr>
          <p:cNvPr id="27" name="Text 25"/>
          <p:cNvSpPr txBox="1"/>
          <p:nvPr/>
        </p:nvSpPr>
        <p:spPr>
          <a:xfrm>
            <a:off x="6242152" y="4878324"/>
            <a:ext cx="274320" cy="237744"/>
          </a:xfrm>
          <a:prstGeom prst="rect">
            <a:avLst/>
          </a:prstGeom>
          <a:noFill/>
          <a:ln/>
        </p:spPr>
        <p:txBody>
          <a:bodyPr wrap="square" lIns="0" tIns="0" rIns="0" bIns="0" rtlCol="0" anchor="ctr"/>
          <a:lstStyle/>
          <a:p>
            <a:pPr algn="ctr" indent="0" marL="0">
              <a:buNone/>
            </a:pPr>
            <a:r>
              <a:rPr lang="en-US" sz="1100" b="1" dirty="0">
                <a:solidFill>
                  <a:srgbClr val="14243D"/>
                </a:solidFill>
                <a:latin typeface="Cambria" pitchFamily="34" charset="0"/>
                <a:ea typeface="Cambria" pitchFamily="34" charset="-122"/>
                <a:cs typeface="Cambria" pitchFamily="34" charset="-120"/>
              </a:rPr>
              <a:t>6</a:t>
            </a:r>
            <a:endParaRPr lang="en-US" sz="1100" dirty="0"/>
          </a:p>
        </p:txBody>
      </p:sp>
      <p:sp>
        <p:nvSpPr>
          <p:cNvPr id="28" name="Text 26"/>
          <p:cNvSpPr txBox="1"/>
          <p:nvPr/>
        </p:nvSpPr>
        <p:spPr>
          <a:xfrm>
            <a:off x="6662776" y="4791456"/>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Raise and answer a case</a:t>
            </a:r>
            <a:endParaRPr lang="en-US" sz="1400" dirty="0"/>
          </a:p>
        </p:txBody>
      </p:sp>
      <p:sp>
        <p:nvSpPr>
          <p:cNvPr id="29" name="Text 27"/>
          <p:cNvSpPr txBox="1"/>
          <p:nvPr/>
        </p:nvSpPr>
        <p:spPr>
          <a:xfrm>
            <a:off x="6662776" y="5056632"/>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Student to registry and back</a:t>
            </a:r>
            <a:endParaRPr lang="en-US" sz="1150" dirty="0"/>
          </a:p>
        </p:txBody>
      </p:sp>
      <p:sp>
        <p:nvSpPr>
          <p:cNvPr id="30" name="Shape 28"/>
          <p:cNvSpPr/>
          <p:nvPr/>
        </p:nvSpPr>
        <p:spPr>
          <a:xfrm>
            <a:off x="640080" y="5632704"/>
            <a:ext cx="274320" cy="274320"/>
          </a:xfrm>
          <a:prstGeom prst="ellipse">
            <a:avLst/>
          </a:prstGeom>
          <a:solidFill>
            <a:srgbClr val="0F8A72"/>
          </a:solidFill>
          <a:ln/>
        </p:spPr>
      </p:sp>
      <p:sp>
        <p:nvSpPr>
          <p:cNvPr id="31" name="Text 29"/>
          <p:cNvSpPr txBox="1"/>
          <p:nvPr/>
        </p:nvSpPr>
        <p:spPr>
          <a:xfrm>
            <a:off x="640080" y="5664708"/>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32" name="Text 30"/>
          <p:cNvSpPr txBox="1"/>
          <p:nvPr/>
        </p:nvSpPr>
        <p:spPr>
          <a:xfrm>
            <a:off x="1060704" y="5577840"/>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At-risk report</a:t>
            </a:r>
            <a:endParaRPr lang="en-US" sz="1400" dirty="0"/>
          </a:p>
        </p:txBody>
      </p:sp>
      <p:sp>
        <p:nvSpPr>
          <p:cNvPr id="33" name="Text 31"/>
          <p:cNvSpPr txBox="1"/>
          <p:nvPr/>
        </p:nvSpPr>
        <p:spPr>
          <a:xfrm>
            <a:off x="1060704" y="5843016"/>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Who is below the requirement</a:t>
            </a:r>
            <a:endParaRPr lang="en-US" sz="1150" dirty="0"/>
          </a:p>
        </p:txBody>
      </p:sp>
      <p:sp>
        <p:nvSpPr>
          <p:cNvPr id="34" name="Shape 32"/>
          <p:cNvSpPr/>
          <p:nvPr/>
        </p:nvSpPr>
        <p:spPr>
          <a:xfrm>
            <a:off x="6242152" y="5632704"/>
            <a:ext cx="274320" cy="274320"/>
          </a:xfrm>
          <a:prstGeom prst="ellipse">
            <a:avLst/>
          </a:prstGeom>
          <a:solidFill>
            <a:srgbClr val="C0392B"/>
          </a:solidFill>
          <a:ln/>
        </p:spPr>
      </p:sp>
      <p:sp>
        <p:nvSpPr>
          <p:cNvPr id="35" name="Text 33"/>
          <p:cNvSpPr txBox="1"/>
          <p:nvPr/>
        </p:nvSpPr>
        <p:spPr>
          <a:xfrm>
            <a:off x="6242152" y="5664708"/>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36" name="Text 34"/>
          <p:cNvSpPr txBox="1"/>
          <p:nvPr/>
        </p:nvSpPr>
        <p:spPr>
          <a:xfrm>
            <a:off x="6662776" y="5577840"/>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Access control</a:t>
            </a:r>
            <a:endParaRPr lang="en-US" sz="1400" dirty="0"/>
          </a:p>
        </p:txBody>
      </p:sp>
      <p:sp>
        <p:nvSpPr>
          <p:cNvPr id="37" name="Text 35"/>
          <p:cNvSpPr txBox="1"/>
          <p:nvPr/>
        </p:nvSpPr>
        <p:spPr>
          <a:xfrm>
            <a:off x="6662776" y="5843016"/>
            <a:ext cx="4888840" cy="384048"/>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Crossing a role boundary</a:t>
            </a:r>
            <a:endParaRPr lang="en-US" sz="1150" dirty="0"/>
          </a:p>
        </p:txBody>
      </p:sp>
      <p:sp>
        <p:nvSpPr>
          <p:cNvPr id="38" name="Text 36"/>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7D8DA8"/>
                </a:solidFill>
                <a:latin typeface="Calibri" pitchFamily="34" charset="0"/>
                <a:ea typeface="Calibri" pitchFamily="34" charset="-122"/>
                <a:cs typeface="Calibri" pitchFamily="34" charset="-120"/>
              </a:rPr>
              <a:t>MEMBER 2 DRIVES  ·  MEMBER 3 NARRATES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Tested at four levels</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129 automated tests running through the real routing stack, plus a manual acceptance pass.</a:t>
            </a:r>
            <a:endParaRPr lang="en-US" sz="1400" dirty="0"/>
          </a:p>
        </p:txBody>
      </p:sp>
      <p:sp>
        <p:nvSpPr>
          <p:cNvPr id="5" name="Shape 3"/>
          <p:cNvSpPr/>
          <p:nvPr/>
        </p:nvSpPr>
        <p:spPr>
          <a:xfrm>
            <a:off x="640080" y="1700784"/>
            <a:ext cx="2508428" cy="1097280"/>
          </a:xfrm>
          <a:prstGeom prst="roundRect">
            <a:avLst>
              <a:gd name="adj" fmla="val 4167"/>
            </a:avLst>
          </a:prstGeom>
          <a:solidFill>
            <a:srgbClr val="F4F7FA"/>
          </a:solidFill>
          <a:ln w="12700">
            <a:solidFill>
              <a:srgbClr val="D9DEE7"/>
            </a:solidFill>
            <a:prstDash val="solid"/>
          </a:ln>
        </p:spPr>
      </p:sp>
      <p:sp>
        <p:nvSpPr>
          <p:cNvPr id="6" name="Text 4"/>
          <p:cNvSpPr txBox="1"/>
          <p:nvPr/>
        </p:nvSpPr>
        <p:spPr>
          <a:xfrm>
            <a:off x="859536" y="1810512"/>
            <a:ext cx="2069516" cy="54864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129</a:t>
            </a:r>
            <a:endParaRPr lang="en-US" sz="3400" dirty="0"/>
          </a:p>
        </p:txBody>
      </p:sp>
      <p:sp>
        <p:nvSpPr>
          <p:cNvPr id="7" name="Text 5"/>
          <p:cNvSpPr txBox="1"/>
          <p:nvPr/>
        </p:nvSpPr>
        <p:spPr>
          <a:xfrm>
            <a:off x="859536" y="2377440"/>
            <a:ext cx="2069516" cy="310896"/>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tests</a:t>
            </a:r>
            <a:endParaRPr lang="en-US" sz="1150" dirty="0"/>
          </a:p>
        </p:txBody>
      </p:sp>
      <p:sp>
        <p:nvSpPr>
          <p:cNvPr id="8" name="Shape 6"/>
          <p:cNvSpPr/>
          <p:nvPr/>
        </p:nvSpPr>
        <p:spPr>
          <a:xfrm>
            <a:off x="3441116" y="1700784"/>
            <a:ext cx="2508428" cy="1097280"/>
          </a:xfrm>
          <a:prstGeom prst="roundRect">
            <a:avLst>
              <a:gd name="adj" fmla="val 4167"/>
            </a:avLst>
          </a:prstGeom>
          <a:solidFill>
            <a:srgbClr val="F4F7FA"/>
          </a:solidFill>
          <a:ln w="12700">
            <a:solidFill>
              <a:srgbClr val="D9DEE7"/>
            </a:solidFill>
            <a:prstDash val="solid"/>
          </a:ln>
        </p:spPr>
      </p:sp>
      <p:sp>
        <p:nvSpPr>
          <p:cNvPr id="9" name="Text 7"/>
          <p:cNvSpPr txBox="1"/>
          <p:nvPr/>
        </p:nvSpPr>
        <p:spPr>
          <a:xfrm>
            <a:off x="3660572" y="1810512"/>
            <a:ext cx="2069516" cy="54864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390</a:t>
            </a:r>
            <a:endParaRPr lang="en-US" sz="3400" dirty="0"/>
          </a:p>
        </p:txBody>
      </p:sp>
      <p:sp>
        <p:nvSpPr>
          <p:cNvPr id="10" name="Text 8"/>
          <p:cNvSpPr txBox="1"/>
          <p:nvPr/>
        </p:nvSpPr>
        <p:spPr>
          <a:xfrm>
            <a:off x="3660572" y="2377440"/>
            <a:ext cx="2069516" cy="310896"/>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assertions</a:t>
            </a:r>
            <a:endParaRPr lang="en-US" sz="1150" dirty="0"/>
          </a:p>
        </p:txBody>
      </p:sp>
      <p:sp>
        <p:nvSpPr>
          <p:cNvPr id="11" name="Shape 9"/>
          <p:cNvSpPr/>
          <p:nvPr/>
        </p:nvSpPr>
        <p:spPr>
          <a:xfrm>
            <a:off x="6242152" y="1700784"/>
            <a:ext cx="2508428" cy="1097280"/>
          </a:xfrm>
          <a:prstGeom prst="roundRect">
            <a:avLst>
              <a:gd name="adj" fmla="val 4167"/>
            </a:avLst>
          </a:prstGeom>
          <a:solidFill>
            <a:srgbClr val="F4F7FA"/>
          </a:solidFill>
          <a:ln w="12700">
            <a:solidFill>
              <a:srgbClr val="D9DEE7"/>
            </a:solidFill>
            <a:prstDash val="solid"/>
          </a:ln>
        </p:spPr>
      </p:sp>
      <p:sp>
        <p:nvSpPr>
          <p:cNvPr id="12" name="Text 10"/>
          <p:cNvSpPr txBox="1"/>
          <p:nvPr/>
        </p:nvSpPr>
        <p:spPr>
          <a:xfrm>
            <a:off x="6461608" y="1810512"/>
            <a:ext cx="2069516" cy="548640"/>
          </a:xfrm>
          <a:prstGeom prst="rect">
            <a:avLst/>
          </a:prstGeom>
          <a:noFill/>
          <a:ln/>
        </p:spPr>
        <p:txBody>
          <a:bodyPr wrap="square" lIns="0" tIns="0" rIns="0" bIns="0" rtlCol="0" anchor="ctr"/>
          <a:lstStyle/>
          <a:p>
            <a:pPr indent="0" marL="0">
              <a:buNone/>
            </a:pPr>
            <a:r>
              <a:rPr lang="en-US" sz="3400" b="1" dirty="0">
                <a:solidFill>
                  <a:srgbClr val="0F8A72"/>
                </a:solidFill>
                <a:latin typeface="Cambria" pitchFamily="34" charset="0"/>
                <a:ea typeface="Cambria" pitchFamily="34" charset="-122"/>
                <a:cs typeface="Cambria" pitchFamily="34" charset="-120"/>
              </a:rPr>
              <a:t>3.6s</a:t>
            </a:r>
            <a:endParaRPr lang="en-US" sz="3400" dirty="0"/>
          </a:p>
        </p:txBody>
      </p:sp>
      <p:sp>
        <p:nvSpPr>
          <p:cNvPr id="13" name="Text 11"/>
          <p:cNvSpPr txBox="1"/>
          <p:nvPr/>
        </p:nvSpPr>
        <p:spPr>
          <a:xfrm>
            <a:off x="6461608" y="2377440"/>
            <a:ext cx="2069516" cy="310896"/>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to run</a:t>
            </a:r>
            <a:endParaRPr lang="en-US" sz="1150" dirty="0"/>
          </a:p>
        </p:txBody>
      </p:sp>
      <p:sp>
        <p:nvSpPr>
          <p:cNvPr id="14" name="Shape 12"/>
          <p:cNvSpPr/>
          <p:nvPr/>
        </p:nvSpPr>
        <p:spPr>
          <a:xfrm>
            <a:off x="9043187" y="1700784"/>
            <a:ext cx="2508428" cy="1097280"/>
          </a:xfrm>
          <a:prstGeom prst="roundRect">
            <a:avLst>
              <a:gd name="adj" fmla="val 4167"/>
            </a:avLst>
          </a:prstGeom>
          <a:solidFill>
            <a:srgbClr val="F4F7FA"/>
          </a:solidFill>
          <a:ln w="12700">
            <a:solidFill>
              <a:srgbClr val="D9DEE7"/>
            </a:solidFill>
            <a:prstDash val="solid"/>
          </a:ln>
        </p:spPr>
      </p:sp>
      <p:sp>
        <p:nvSpPr>
          <p:cNvPr id="15" name="Text 13"/>
          <p:cNvSpPr txBox="1"/>
          <p:nvPr/>
        </p:nvSpPr>
        <p:spPr>
          <a:xfrm>
            <a:off x="9262643" y="1810512"/>
            <a:ext cx="2069516" cy="548640"/>
          </a:xfrm>
          <a:prstGeom prst="rect">
            <a:avLst/>
          </a:prstGeom>
          <a:noFill/>
          <a:ln/>
        </p:spPr>
        <p:txBody>
          <a:bodyPr wrap="square" lIns="0" tIns="0" rIns="0" bIns="0" rtlCol="0" anchor="ctr"/>
          <a:lstStyle/>
          <a:p>
            <a:pPr indent="0" marL="0">
              <a:buNone/>
            </a:pPr>
            <a:r>
              <a:rPr lang="en-US" sz="3400" b="1" dirty="0">
                <a:solidFill>
                  <a:srgbClr val="B8860B"/>
                </a:solidFill>
                <a:latin typeface="Cambria" pitchFamily="34" charset="0"/>
                <a:ea typeface="Cambria" pitchFamily="34" charset="-122"/>
                <a:cs typeface="Cambria" pitchFamily="34" charset="-120"/>
              </a:rPr>
              <a:t>80</a:t>
            </a:r>
            <a:endParaRPr lang="en-US" sz="3400" dirty="0"/>
          </a:p>
        </p:txBody>
      </p:sp>
      <p:sp>
        <p:nvSpPr>
          <p:cNvPr id="16" name="Text 14"/>
          <p:cNvSpPr txBox="1"/>
          <p:nvPr/>
        </p:nvSpPr>
        <p:spPr>
          <a:xfrm>
            <a:off x="9262643" y="2377440"/>
            <a:ext cx="2069516" cy="310896"/>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documented cases</a:t>
            </a:r>
            <a:endParaRPr lang="en-US" sz="1150" dirty="0"/>
          </a:p>
        </p:txBody>
      </p:sp>
      <p:sp>
        <p:nvSpPr>
          <p:cNvPr id="17" name="Shape 15"/>
          <p:cNvSpPr/>
          <p:nvPr/>
        </p:nvSpPr>
        <p:spPr>
          <a:xfrm>
            <a:off x="640080" y="3035808"/>
            <a:ext cx="6675120" cy="475488"/>
          </a:xfrm>
          <a:prstGeom prst="roundRect">
            <a:avLst>
              <a:gd name="adj" fmla="val 7692"/>
            </a:avLst>
          </a:prstGeom>
          <a:solidFill>
            <a:srgbClr val="F4F7FA"/>
          </a:solidFill>
          <a:ln w="12700">
            <a:solidFill>
              <a:srgbClr val="D9DEE7"/>
            </a:solidFill>
            <a:prstDash val="solid"/>
          </a:ln>
        </p:spPr>
      </p:sp>
      <p:sp>
        <p:nvSpPr>
          <p:cNvPr id="18" name="Text 16"/>
          <p:cNvSpPr txBox="1"/>
          <p:nvPr/>
        </p:nvSpPr>
        <p:spPr>
          <a:xfrm>
            <a:off x="841248" y="3145536"/>
            <a:ext cx="1371600" cy="274320"/>
          </a:xfrm>
          <a:prstGeom prst="rect">
            <a:avLst/>
          </a:prstGeom>
          <a:noFill/>
          <a:ln/>
        </p:spPr>
        <p:txBody>
          <a:bodyPr wrap="square" lIns="0" tIns="0" rIns="0" bIns="0" rtlCol="0" anchor="ctr"/>
          <a:lstStyle/>
          <a:p>
            <a:pPr indent="0" marL="0">
              <a:buNone/>
            </a:pPr>
            <a:r>
              <a:rPr lang="en-US" sz="1300" b="1" dirty="0">
                <a:solidFill>
                  <a:srgbClr val="14243D"/>
                </a:solidFill>
                <a:latin typeface="Cambria" pitchFamily="34" charset="0"/>
                <a:ea typeface="Cambria" pitchFamily="34" charset="-122"/>
                <a:cs typeface="Cambria" pitchFamily="34" charset="-120"/>
              </a:rPr>
              <a:t>Unit</a:t>
            </a:r>
            <a:endParaRPr lang="en-US" sz="1300" dirty="0"/>
          </a:p>
        </p:txBody>
      </p:sp>
      <p:sp>
        <p:nvSpPr>
          <p:cNvPr id="19" name="Text 17"/>
          <p:cNvSpPr txBox="1"/>
          <p:nvPr/>
        </p:nvSpPr>
        <p:spPr>
          <a:xfrm>
            <a:off x="2331720" y="3154680"/>
            <a:ext cx="4846320"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The rules the modules share, held on the enumerations</a:t>
            </a:r>
            <a:endParaRPr lang="en-US" sz="1150" dirty="0"/>
          </a:p>
        </p:txBody>
      </p:sp>
      <p:sp>
        <p:nvSpPr>
          <p:cNvPr id="20" name="Shape 18"/>
          <p:cNvSpPr/>
          <p:nvPr/>
        </p:nvSpPr>
        <p:spPr>
          <a:xfrm>
            <a:off x="640080" y="3602736"/>
            <a:ext cx="6675120" cy="475488"/>
          </a:xfrm>
          <a:prstGeom prst="roundRect">
            <a:avLst>
              <a:gd name="adj" fmla="val 7692"/>
            </a:avLst>
          </a:prstGeom>
          <a:solidFill>
            <a:srgbClr val="FFFFFF"/>
          </a:solidFill>
          <a:ln w="12700">
            <a:solidFill>
              <a:srgbClr val="D9DEE7"/>
            </a:solidFill>
            <a:prstDash val="solid"/>
          </a:ln>
        </p:spPr>
      </p:sp>
      <p:sp>
        <p:nvSpPr>
          <p:cNvPr id="21" name="Text 19"/>
          <p:cNvSpPr txBox="1"/>
          <p:nvPr/>
        </p:nvSpPr>
        <p:spPr>
          <a:xfrm>
            <a:off x="841248" y="3712464"/>
            <a:ext cx="1371600" cy="274320"/>
          </a:xfrm>
          <a:prstGeom prst="rect">
            <a:avLst/>
          </a:prstGeom>
          <a:noFill/>
          <a:ln/>
        </p:spPr>
        <p:txBody>
          <a:bodyPr wrap="square" lIns="0" tIns="0" rIns="0" bIns="0" rtlCol="0" anchor="ctr"/>
          <a:lstStyle/>
          <a:p>
            <a:pPr indent="0" marL="0">
              <a:buNone/>
            </a:pPr>
            <a:r>
              <a:rPr lang="en-US" sz="1300" b="1" dirty="0">
                <a:solidFill>
                  <a:srgbClr val="14243D"/>
                </a:solidFill>
                <a:latin typeface="Cambria" pitchFamily="34" charset="0"/>
                <a:ea typeface="Cambria" pitchFamily="34" charset="-122"/>
                <a:cs typeface="Cambria" pitchFamily="34" charset="-120"/>
              </a:rPr>
              <a:t>Integration</a:t>
            </a:r>
            <a:endParaRPr lang="en-US" sz="1300" dirty="0"/>
          </a:p>
        </p:txBody>
      </p:sp>
      <p:sp>
        <p:nvSpPr>
          <p:cNvPr id="22" name="Text 20"/>
          <p:cNvSpPr txBox="1"/>
          <p:nvPr/>
        </p:nvSpPr>
        <p:spPr>
          <a:xfrm>
            <a:off x="2331720" y="3721608"/>
            <a:ext cx="4846320"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That all three modules resolve one student and agree</a:t>
            </a:r>
            <a:endParaRPr lang="en-US" sz="1150" dirty="0"/>
          </a:p>
        </p:txBody>
      </p:sp>
      <p:sp>
        <p:nvSpPr>
          <p:cNvPr id="23" name="Shape 21"/>
          <p:cNvSpPr/>
          <p:nvPr/>
        </p:nvSpPr>
        <p:spPr>
          <a:xfrm>
            <a:off x="640080" y="4169664"/>
            <a:ext cx="6675120" cy="475488"/>
          </a:xfrm>
          <a:prstGeom prst="roundRect">
            <a:avLst>
              <a:gd name="adj" fmla="val 7692"/>
            </a:avLst>
          </a:prstGeom>
          <a:solidFill>
            <a:srgbClr val="F4F7FA"/>
          </a:solidFill>
          <a:ln w="12700">
            <a:solidFill>
              <a:srgbClr val="D9DEE7"/>
            </a:solidFill>
            <a:prstDash val="solid"/>
          </a:ln>
        </p:spPr>
      </p:sp>
      <p:sp>
        <p:nvSpPr>
          <p:cNvPr id="24" name="Text 22"/>
          <p:cNvSpPr txBox="1"/>
          <p:nvPr/>
        </p:nvSpPr>
        <p:spPr>
          <a:xfrm>
            <a:off x="841248" y="4279392"/>
            <a:ext cx="1371600" cy="274320"/>
          </a:xfrm>
          <a:prstGeom prst="rect">
            <a:avLst/>
          </a:prstGeom>
          <a:noFill/>
          <a:ln/>
        </p:spPr>
        <p:txBody>
          <a:bodyPr wrap="square" lIns="0" tIns="0" rIns="0" bIns="0" rtlCol="0" anchor="ctr"/>
          <a:lstStyle/>
          <a:p>
            <a:pPr indent="0" marL="0">
              <a:buNone/>
            </a:pPr>
            <a:r>
              <a:rPr lang="en-US" sz="1300" b="1" dirty="0">
                <a:solidFill>
                  <a:srgbClr val="14243D"/>
                </a:solidFill>
                <a:latin typeface="Cambria" pitchFamily="34" charset="0"/>
                <a:ea typeface="Cambria" pitchFamily="34" charset="-122"/>
                <a:cs typeface="Cambria" pitchFamily="34" charset="-120"/>
              </a:rPr>
              <a:t>System</a:t>
            </a:r>
            <a:endParaRPr lang="en-US" sz="1300" dirty="0"/>
          </a:p>
        </p:txBody>
      </p:sp>
      <p:sp>
        <p:nvSpPr>
          <p:cNvPr id="25" name="Text 23"/>
          <p:cNvSpPr txBox="1"/>
          <p:nvPr/>
        </p:nvSpPr>
        <p:spPr>
          <a:xfrm>
            <a:off x="2331720" y="4288536"/>
            <a:ext cx="4846320"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Every screen, and every module write path, through the real routes</a:t>
            </a:r>
            <a:endParaRPr lang="en-US" sz="1150" dirty="0"/>
          </a:p>
        </p:txBody>
      </p:sp>
      <p:sp>
        <p:nvSpPr>
          <p:cNvPr id="26" name="Shape 24"/>
          <p:cNvSpPr/>
          <p:nvPr/>
        </p:nvSpPr>
        <p:spPr>
          <a:xfrm>
            <a:off x="640080" y="4736592"/>
            <a:ext cx="6675120" cy="475488"/>
          </a:xfrm>
          <a:prstGeom prst="roundRect">
            <a:avLst>
              <a:gd name="adj" fmla="val 7692"/>
            </a:avLst>
          </a:prstGeom>
          <a:solidFill>
            <a:srgbClr val="FFFFFF"/>
          </a:solidFill>
          <a:ln w="12700">
            <a:solidFill>
              <a:srgbClr val="D9DEE7"/>
            </a:solidFill>
            <a:prstDash val="solid"/>
          </a:ln>
        </p:spPr>
      </p:sp>
      <p:sp>
        <p:nvSpPr>
          <p:cNvPr id="27" name="Text 25"/>
          <p:cNvSpPr txBox="1"/>
          <p:nvPr/>
        </p:nvSpPr>
        <p:spPr>
          <a:xfrm>
            <a:off x="841248" y="4846320"/>
            <a:ext cx="1371600" cy="274320"/>
          </a:xfrm>
          <a:prstGeom prst="rect">
            <a:avLst/>
          </a:prstGeom>
          <a:noFill/>
          <a:ln/>
        </p:spPr>
        <p:txBody>
          <a:bodyPr wrap="square" lIns="0" tIns="0" rIns="0" bIns="0" rtlCol="0" anchor="ctr"/>
          <a:lstStyle/>
          <a:p>
            <a:pPr indent="0" marL="0">
              <a:buNone/>
            </a:pPr>
            <a:r>
              <a:rPr lang="en-US" sz="1300" b="1" dirty="0">
                <a:solidFill>
                  <a:srgbClr val="14243D"/>
                </a:solidFill>
                <a:latin typeface="Cambria" pitchFamily="34" charset="0"/>
                <a:ea typeface="Cambria" pitchFamily="34" charset="-122"/>
                <a:cs typeface="Cambria" pitchFamily="34" charset="-120"/>
              </a:rPr>
              <a:t>Acceptance</a:t>
            </a:r>
            <a:endParaRPr lang="en-US" sz="1300" dirty="0"/>
          </a:p>
        </p:txBody>
      </p:sp>
      <p:sp>
        <p:nvSpPr>
          <p:cNvPr id="28" name="Text 26"/>
          <p:cNvSpPr txBox="1"/>
          <p:nvPr/>
        </p:nvSpPr>
        <p:spPr>
          <a:xfrm>
            <a:off x="2331720" y="4855464"/>
            <a:ext cx="4846320"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The full demonstration path, walked manually</a:t>
            </a:r>
            <a:endParaRPr lang="en-US" sz="1150" dirty="0"/>
          </a:p>
        </p:txBody>
      </p:sp>
      <p:sp>
        <p:nvSpPr>
          <p:cNvPr id="29" name="Shape 27"/>
          <p:cNvSpPr/>
          <p:nvPr/>
        </p:nvSpPr>
        <p:spPr>
          <a:xfrm>
            <a:off x="7680960" y="3035808"/>
            <a:ext cx="3870655" cy="2231136"/>
          </a:xfrm>
          <a:prstGeom prst="roundRect">
            <a:avLst>
              <a:gd name="adj" fmla="val 2049"/>
            </a:avLst>
          </a:prstGeom>
          <a:solidFill>
            <a:srgbClr val="F4F7FA"/>
          </a:solidFill>
          <a:ln w="12700">
            <a:solidFill>
              <a:srgbClr val="D9DEE7"/>
            </a:solidFill>
            <a:prstDash val="solid"/>
          </a:ln>
        </p:spPr>
      </p:sp>
      <p:sp>
        <p:nvSpPr>
          <p:cNvPr id="30" name="Text 28"/>
          <p:cNvSpPr txBox="1"/>
          <p:nvPr/>
        </p:nvSpPr>
        <p:spPr>
          <a:xfrm>
            <a:off x="7918704" y="3255264"/>
            <a:ext cx="3395167" cy="219456"/>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A USEFUL SETTING</a:t>
            </a:r>
            <a:endParaRPr lang="en-US" sz="1000" dirty="0"/>
          </a:p>
        </p:txBody>
      </p:sp>
      <p:sp>
        <p:nvSpPr>
          <p:cNvPr id="31" name="Text 29"/>
          <p:cNvSpPr txBox="1"/>
          <p:nvPr/>
        </p:nvSpPr>
        <p:spPr>
          <a:xfrm>
            <a:off x="7918704" y="3529584"/>
            <a:ext cx="3395167" cy="310896"/>
          </a:xfrm>
          <a:prstGeom prst="rect">
            <a:avLst/>
          </a:prstGeom>
          <a:noFill/>
          <a:ln/>
        </p:spPr>
        <p:txBody>
          <a:bodyPr wrap="square" lIns="0" tIns="0" rIns="0" bIns="0" rtlCol="0" anchor="ctr"/>
          <a:lstStyle/>
          <a:p>
            <a:pPr indent="0" marL="0">
              <a:buNone/>
            </a:pPr>
            <a:r>
              <a:rPr lang="en-US" sz="1450" b="1" dirty="0">
                <a:solidFill>
                  <a:srgbClr val="14243D"/>
                </a:solidFill>
                <a:latin typeface="Cambria" pitchFamily="34" charset="0"/>
                <a:ea typeface="Cambria" pitchFamily="34" charset="-122"/>
                <a:cs typeface="Cambria" pitchFamily="34" charset="-120"/>
              </a:rPr>
              <a:t>Lazy loading off in tests</a:t>
            </a:r>
            <a:endParaRPr lang="en-US" sz="1450" dirty="0"/>
          </a:p>
        </p:txBody>
      </p:sp>
      <p:sp>
        <p:nvSpPr>
          <p:cNvPr id="32" name="Text 30"/>
          <p:cNvSpPr txBox="1"/>
          <p:nvPr/>
        </p:nvSpPr>
        <p:spPr>
          <a:xfrm>
            <a:off x="7918704" y="3895344"/>
            <a:ext cx="3395167" cy="1207008"/>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Any relationship the code forgot to load in advance throws, instead of quietly firing an extra query per row. An N+1 bug fails the build rather than shipping.</a:t>
            </a:r>
            <a:endParaRPr lang="en-US" sz="1150" dirty="0"/>
          </a:p>
        </p:txBody>
      </p:sp>
      <p:sp>
        <p:nvSpPr>
          <p:cNvPr id="33" name="Text 31"/>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Security and access control</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Two layers, because the two checks answer different questions.</a:t>
            </a:r>
            <a:endParaRPr lang="en-US" sz="1400" dirty="0"/>
          </a:p>
        </p:txBody>
      </p:sp>
      <p:sp>
        <p:nvSpPr>
          <p:cNvPr id="5" name="Shape 3"/>
          <p:cNvSpPr/>
          <p:nvPr/>
        </p:nvSpPr>
        <p:spPr>
          <a:xfrm>
            <a:off x="640080" y="1719072"/>
            <a:ext cx="5227168" cy="1783080"/>
          </a:xfrm>
          <a:prstGeom prst="roundRect">
            <a:avLst>
              <a:gd name="adj" fmla="val 2564"/>
            </a:avLst>
          </a:prstGeom>
          <a:solidFill>
            <a:srgbClr val="F4F7FA"/>
          </a:solidFill>
          <a:ln w="12700">
            <a:solidFill>
              <a:srgbClr val="D9DEE7"/>
            </a:solidFill>
            <a:prstDash val="solid"/>
          </a:ln>
        </p:spPr>
      </p:sp>
      <p:sp>
        <p:nvSpPr>
          <p:cNvPr id="6" name="Text 4"/>
          <p:cNvSpPr txBox="1"/>
          <p:nvPr/>
        </p:nvSpPr>
        <p:spPr>
          <a:xfrm>
            <a:off x="877824" y="1938528"/>
            <a:ext cx="4751680" cy="219456"/>
          </a:xfrm>
          <a:prstGeom prst="rect">
            <a:avLst/>
          </a:prstGeom>
          <a:noFill/>
          <a:ln/>
        </p:spPr>
        <p:txBody>
          <a:bodyPr wrap="square" lIns="0" tIns="0" rIns="0" bIns="0" rtlCol="0" anchor="ctr"/>
          <a:lstStyle/>
          <a:p>
            <a:pPr indent="0" marL="0">
              <a:buNone/>
            </a:pPr>
            <a:r>
              <a:rPr lang="en-US" sz="1000" b="1" spc="120" kern="0" dirty="0">
                <a:solidFill>
                  <a:srgbClr val="0F8A72"/>
                </a:solidFill>
                <a:latin typeface="Calibri" pitchFamily="34" charset="0"/>
                <a:ea typeface="Calibri" pitchFamily="34" charset="-122"/>
                <a:cs typeface="Calibri" pitchFamily="34" charset="-120"/>
              </a:rPr>
              <a:t>LAYER 1  -  MIDDLEWARE</a:t>
            </a:r>
            <a:endParaRPr lang="en-US" sz="1000" dirty="0"/>
          </a:p>
        </p:txBody>
      </p:sp>
      <p:sp>
        <p:nvSpPr>
          <p:cNvPr id="7" name="Text 5"/>
          <p:cNvSpPr txBox="1"/>
          <p:nvPr/>
        </p:nvSpPr>
        <p:spPr>
          <a:xfrm>
            <a:off x="877824" y="2212848"/>
            <a:ext cx="475168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Is this the right kind of user?</a:t>
            </a:r>
            <a:endParaRPr lang="en-US" sz="1550" dirty="0"/>
          </a:p>
        </p:txBody>
      </p:sp>
      <p:sp>
        <p:nvSpPr>
          <p:cNvPr id="8" name="Text 6"/>
          <p:cNvSpPr txBox="1"/>
          <p:nvPr/>
        </p:nvSpPr>
        <p:spPr>
          <a:xfrm>
            <a:off x="877824" y="2578608"/>
            <a:ext cx="4751680" cy="75895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Role middleware gates each portal. Necessary, but it confirms only that the visitor is a faculty member, not which faculty member.</a:t>
            </a:r>
            <a:endParaRPr lang="en-US" sz="1200" dirty="0"/>
          </a:p>
        </p:txBody>
      </p:sp>
      <p:sp>
        <p:nvSpPr>
          <p:cNvPr id="9" name="Shape 7"/>
          <p:cNvSpPr/>
          <p:nvPr/>
        </p:nvSpPr>
        <p:spPr>
          <a:xfrm>
            <a:off x="6324448" y="1719072"/>
            <a:ext cx="5227168" cy="1783080"/>
          </a:xfrm>
          <a:prstGeom prst="roundRect">
            <a:avLst>
              <a:gd name="adj" fmla="val 2564"/>
            </a:avLst>
          </a:prstGeom>
          <a:solidFill>
            <a:srgbClr val="F4F7FA"/>
          </a:solidFill>
          <a:ln w="12700">
            <a:solidFill>
              <a:srgbClr val="D9DEE7"/>
            </a:solidFill>
            <a:prstDash val="solid"/>
          </a:ln>
        </p:spPr>
      </p:sp>
      <p:sp>
        <p:nvSpPr>
          <p:cNvPr id="10" name="Text 8"/>
          <p:cNvSpPr txBox="1"/>
          <p:nvPr/>
        </p:nvSpPr>
        <p:spPr>
          <a:xfrm>
            <a:off x="6562192" y="1938528"/>
            <a:ext cx="4751680" cy="219456"/>
          </a:xfrm>
          <a:prstGeom prst="rect">
            <a:avLst/>
          </a:prstGeom>
          <a:noFill/>
          <a:ln/>
        </p:spPr>
        <p:txBody>
          <a:bodyPr wrap="square" lIns="0" tIns="0" rIns="0" bIns="0" rtlCol="0" anchor="ctr"/>
          <a:lstStyle/>
          <a:p>
            <a:pPr indent="0" marL="0">
              <a:buNone/>
            </a:pPr>
            <a:r>
              <a:rPr lang="en-US" sz="1000" b="1" spc="120" kern="0" dirty="0">
                <a:solidFill>
                  <a:srgbClr val="B8860B"/>
                </a:solidFill>
                <a:latin typeface="Calibri" pitchFamily="34" charset="0"/>
                <a:ea typeface="Calibri" pitchFamily="34" charset="-122"/>
                <a:cs typeface="Calibri" pitchFamily="34" charset="-120"/>
              </a:rPr>
              <a:t>LAYER 2  -  POLICY</a:t>
            </a:r>
            <a:endParaRPr lang="en-US" sz="1000" dirty="0"/>
          </a:p>
        </p:txBody>
      </p:sp>
      <p:sp>
        <p:nvSpPr>
          <p:cNvPr id="11" name="Text 9"/>
          <p:cNvSpPr txBox="1"/>
          <p:nvPr/>
        </p:nvSpPr>
        <p:spPr>
          <a:xfrm>
            <a:off x="6562192" y="2212848"/>
            <a:ext cx="4751680" cy="310896"/>
          </a:xfrm>
          <a:prstGeom prst="rect">
            <a:avLst/>
          </a:prstGeom>
          <a:noFill/>
          <a:ln/>
        </p:spPr>
        <p:txBody>
          <a:bodyPr wrap="square" lIns="0" tIns="0" rIns="0" bIns="0" rtlCol="0" anchor="ctr"/>
          <a:lstStyle/>
          <a:p>
            <a:pPr indent="0" marL="0">
              <a:buNone/>
            </a:pPr>
            <a:r>
              <a:rPr lang="en-US" sz="1550" b="1" dirty="0">
                <a:solidFill>
                  <a:srgbClr val="14243D"/>
                </a:solidFill>
                <a:latin typeface="Cambria" pitchFamily="34" charset="0"/>
                <a:ea typeface="Cambria" pitchFamily="34" charset="-122"/>
                <a:cs typeface="Cambria" pitchFamily="34" charset="-120"/>
              </a:rPr>
              <a:t>Is this their record?</a:t>
            </a:r>
            <a:endParaRPr lang="en-US" sz="1550" dirty="0"/>
          </a:p>
        </p:txBody>
      </p:sp>
      <p:sp>
        <p:nvSpPr>
          <p:cNvPr id="12" name="Text 10"/>
          <p:cNvSpPr txBox="1"/>
          <p:nvPr/>
        </p:nvSpPr>
        <p:spPr>
          <a:xfrm>
            <a:off x="6562192" y="2578608"/>
            <a:ext cx="4751680" cy="75895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A policy checks that the student is enrolled in a section this lecturer teaches. Without it, any lecturer could open any profile by editing the URL.</a:t>
            </a:r>
            <a:endParaRPr lang="en-US" sz="1200" dirty="0"/>
          </a:p>
        </p:txBody>
      </p:sp>
      <p:sp>
        <p:nvSpPr>
          <p:cNvPr id="13" name="Text 11"/>
          <p:cNvSpPr txBox="1"/>
          <p:nvPr/>
        </p:nvSpPr>
        <p:spPr>
          <a:xfrm>
            <a:off x="640080" y="3749040"/>
            <a:ext cx="2743200" cy="274320"/>
          </a:xfrm>
          <a:prstGeom prst="rect">
            <a:avLst/>
          </a:prstGeom>
          <a:noFill/>
          <a:ln/>
        </p:spPr>
        <p:txBody>
          <a:bodyPr wrap="square" lIns="0" tIns="0" rIns="0" bIns="0" rtlCol="0" anchor="ctr"/>
          <a:lstStyle/>
          <a:p>
            <a:pPr indent="0" marL="0">
              <a:buNone/>
            </a:pPr>
            <a:r>
              <a:rPr lang="en-US" sz="1250" b="1" dirty="0">
                <a:solidFill>
                  <a:srgbClr val="14243D"/>
                </a:solidFill>
                <a:latin typeface="Cambria" pitchFamily="34" charset="0"/>
                <a:ea typeface="Cambria" pitchFamily="34" charset="-122"/>
                <a:cs typeface="Cambria" pitchFamily="34" charset="-120"/>
              </a:rPr>
              <a:t>SQL injection</a:t>
            </a:r>
            <a:endParaRPr lang="en-US" sz="1250" dirty="0"/>
          </a:p>
        </p:txBody>
      </p:sp>
      <p:sp>
        <p:nvSpPr>
          <p:cNvPr id="14" name="Text 12"/>
          <p:cNvSpPr txBox="1"/>
          <p:nvPr/>
        </p:nvSpPr>
        <p:spPr>
          <a:xfrm>
            <a:off x="3474720" y="3758184"/>
            <a:ext cx="8076895"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Every query binds parameters through the ORM. No input is concatenated into SQL.</a:t>
            </a:r>
            <a:endParaRPr lang="en-US" sz="1150" dirty="0"/>
          </a:p>
        </p:txBody>
      </p:sp>
      <p:sp>
        <p:nvSpPr>
          <p:cNvPr id="15" name="Text 13"/>
          <p:cNvSpPr txBox="1"/>
          <p:nvPr/>
        </p:nvSpPr>
        <p:spPr>
          <a:xfrm>
            <a:off x="640080" y="4206240"/>
            <a:ext cx="2743200" cy="274320"/>
          </a:xfrm>
          <a:prstGeom prst="rect">
            <a:avLst/>
          </a:prstGeom>
          <a:noFill/>
          <a:ln/>
        </p:spPr>
        <p:txBody>
          <a:bodyPr wrap="square" lIns="0" tIns="0" rIns="0" bIns="0" rtlCol="0" anchor="ctr"/>
          <a:lstStyle/>
          <a:p>
            <a:pPr indent="0" marL="0">
              <a:buNone/>
            </a:pPr>
            <a:r>
              <a:rPr lang="en-US" sz="1250" b="1" dirty="0">
                <a:solidFill>
                  <a:srgbClr val="14243D"/>
                </a:solidFill>
                <a:latin typeface="Cambria" pitchFamily="34" charset="0"/>
                <a:ea typeface="Cambria" pitchFamily="34" charset="-122"/>
                <a:cs typeface="Cambria" pitchFamily="34" charset="-120"/>
              </a:rPr>
              <a:t>Cross-site scripting</a:t>
            </a:r>
            <a:endParaRPr lang="en-US" sz="1250" dirty="0"/>
          </a:p>
        </p:txBody>
      </p:sp>
      <p:sp>
        <p:nvSpPr>
          <p:cNvPr id="16" name="Text 14"/>
          <p:cNvSpPr txBox="1"/>
          <p:nvPr/>
        </p:nvSpPr>
        <p:spPr>
          <a:xfrm>
            <a:off x="3474720" y="4215384"/>
            <a:ext cx="8076895"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Blade escapes all output by default; nothing is rendered unescaped.</a:t>
            </a:r>
            <a:endParaRPr lang="en-US" sz="1150" dirty="0"/>
          </a:p>
        </p:txBody>
      </p:sp>
      <p:sp>
        <p:nvSpPr>
          <p:cNvPr id="17" name="Text 15"/>
          <p:cNvSpPr txBox="1"/>
          <p:nvPr/>
        </p:nvSpPr>
        <p:spPr>
          <a:xfrm>
            <a:off x="640080" y="4663440"/>
            <a:ext cx="2743200" cy="274320"/>
          </a:xfrm>
          <a:prstGeom prst="rect">
            <a:avLst/>
          </a:prstGeom>
          <a:noFill/>
          <a:ln/>
        </p:spPr>
        <p:txBody>
          <a:bodyPr wrap="square" lIns="0" tIns="0" rIns="0" bIns="0" rtlCol="0" anchor="ctr"/>
          <a:lstStyle/>
          <a:p>
            <a:pPr indent="0" marL="0">
              <a:buNone/>
            </a:pPr>
            <a:r>
              <a:rPr lang="en-US" sz="1250" b="1" dirty="0">
                <a:solidFill>
                  <a:srgbClr val="14243D"/>
                </a:solidFill>
                <a:latin typeface="Cambria" pitchFamily="34" charset="0"/>
                <a:ea typeface="Cambria" pitchFamily="34" charset="-122"/>
                <a:cs typeface="Cambria" pitchFamily="34" charset="-120"/>
              </a:rPr>
              <a:t>Cross-site request forgery</a:t>
            </a:r>
            <a:endParaRPr lang="en-US" sz="1250" dirty="0"/>
          </a:p>
        </p:txBody>
      </p:sp>
      <p:sp>
        <p:nvSpPr>
          <p:cNvPr id="18" name="Text 16"/>
          <p:cNvSpPr txBox="1"/>
          <p:nvPr/>
        </p:nvSpPr>
        <p:spPr>
          <a:xfrm>
            <a:off x="3474720" y="4672584"/>
            <a:ext cx="8076895"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Every state-changing form carries a verified token.</a:t>
            </a:r>
            <a:endParaRPr lang="en-US" sz="1150" dirty="0"/>
          </a:p>
        </p:txBody>
      </p:sp>
      <p:sp>
        <p:nvSpPr>
          <p:cNvPr id="19" name="Text 17"/>
          <p:cNvSpPr txBox="1"/>
          <p:nvPr/>
        </p:nvSpPr>
        <p:spPr>
          <a:xfrm>
            <a:off x="640080" y="5120640"/>
            <a:ext cx="2743200" cy="274320"/>
          </a:xfrm>
          <a:prstGeom prst="rect">
            <a:avLst/>
          </a:prstGeom>
          <a:noFill/>
          <a:ln/>
        </p:spPr>
        <p:txBody>
          <a:bodyPr wrap="square" lIns="0" tIns="0" rIns="0" bIns="0" rtlCol="0" anchor="ctr"/>
          <a:lstStyle/>
          <a:p>
            <a:pPr indent="0" marL="0">
              <a:buNone/>
            </a:pPr>
            <a:r>
              <a:rPr lang="en-US" sz="1250" b="1" dirty="0">
                <a:solidFill>
                  <a:srgbClr val="14243D"/>
                </a:solidFill>
                <a:latin typeface="Cambria" pitchFamily="34" charset="0"/>
                <a:ea typeface="Cambria" pitchFamily="34" charset="-122"/>
                <a:cs typeface="Cambria" pitchFamily="34" charset="-120"/>
              </a:rPr>
              <a:t>Malicious upload</a:t>
            </a:r>
            <a:endParaRPr lang="en-US" sz="1250" dirty="0"/>
          </a:p>
        </p:txBody>
      </p:sp>
      <p:sp>
        <p:nvSpPr>
          <p:cNvPr id="20" name="Text 18"/>
          <p:cNvSpPr txBox="1"/>
          <p:nvPr/>
        </p:nvSpPr>
        <p:spPr>
          <a:xfrm>
            <a:off x="3474720" y="5129784"/>
            <a:ext cx="8076895"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Photographs restricted by MIME type and size, renamed, stored outside the source tree.</a:t>
            </a:r>
            <a:endParaRPr lang="en-US" sz="1150" dirty="0"/>
          </a:p>
        </p:txBody>
      </p:sp>
      <p:sp>
        <p:nvSpPr>
          <p:cNvPr id="21" name="Text 19"/>
          <p:cNvSpPr txBox="1"/>
          <p:nvPr/>
        </p:nvSpPr>
        <p:spPr>
          <a:xfrm>
            <a:off x="640080" y="5577840"/>
            <a:ext cx="2743200" cy="274320"/>
          </a:xfrm>
          <a:prstGeom prst="rect">
            <a:avLst/>
          </a:prstGeom>
          <a:noFill/>
          <a:ln/>
        </p:spPr>
        <p:txBody>
          <a:bodyPr wrap="square" lIns="0" tIns="0" rIns="0" bIns="0" rtlCol="0" anchor="ctr"/>
          <a:lstStyle/>
          <a:p>
            <a:pPr indent="0" marL="0">
              <a:buNone/>
            </a:pPr>
            <a:r>
              <a:rPr lang="en-US" sz="1250" b="1" dirty="0">
                <a:solidFill>
                  <a:srgbClr val="14243D"/>
                </a:solidFill>
                <a:latin typeface="Cambria" pitchFamily="34" charset="0"/>
                <a:ea typeface="Cambria" pitchFamily="34" charset="-122"/>
                <a:cs typeface="Cambria" pitchFamily="34" charset="-120"/>
              </a:rPr>
              <a:t>Brute force</a:t>
            </a:r>
            <a:endParaRPr lang="en-US" sz="1250" dirty="0"/>
          </a:p>
        </p:txBody>
      </p:sp>
      <p:sp>
        <p:nvSpPr>
          <p:cNvPr id="22" name="Text 20"/>
          <p:cNvSpPr txBox="1"/>
          <p:nvPr/>
        </p:nvSpPr>
        <p:spPr>
          <a:xfrm>
            <a:off x="3474720" y="5586984"/>
            <a:ext cx="8076895" cy="274320"/>
          </a:xfrm>
          <a:prstGeom prst="rect">
            <a:avLst/>
          </a:prstGeom>
          <a:noFill/>
          <a:ln/>
        </p:spPr>
        <p:txBody>
          <a:bodyPr wrap="square" lIns="0" tIns="0" rIns="0" bIns="0" rtlCol="0" anchor="ctr"/>
          <a:lstStyle/>
          <a:p>
            <a:pPr indent="0" marL="0">
              <a:buNone/>
            </a:pPr>
            <a:r>
              <a:rPr lang="en-US" sz="1150" dirty="0">
                <a:solidFill>
                  <a:srgbClr val="68738A"/>
                </a:solidFill>
                <a:latin typeface="Calibri" pitchFamily="34" charset="0"/>
                <a:ea typeface="Calibri" pitchFamily="34" charset="-122"/>
                <a:cs typeface="Calibri" pitchFamily="34" charset="-120"/>
              </a:rPr>
              <a:t>Five attempts per email and IP address, then a lockout.</a:t>
            </a:r>
            <a:endParaRPr lang="en-US" sz="1150" dirty="0"/>
          </a:p>
        </p:txBody>
      </p:sp>
      <p:sp>
        <p:nvSpPr>
          <p:cNvPr id="23" name="Text 21"/>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What we actually learned</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The technical part was the easy part.</a:t>
            </a:r>
            <a:endParaRPr lang="en-US" sz="1400" dirty="0"/>
          </a:p>
        </p:txBody>
      </p:sp>
      <p:sp>
        <p:nvSpPr>
          <p:cNvPr id="5" name="Shape 3"/>
          <p:cNvSpPr/>
          <p:nvPr/>
        </p:nvSpPr>
        <p:spPr>
          <a:xfrm>
            <a:off x="640080" y="1883664"/>
            <a:ext cx="365760" cy="365760"/>
          </a:xfrm>
          <a:prstGeom prst="ellipse">
            <a:avLst/>
          </a:prstGeom>
          <a:solidFill>
            <a:srgbClr val="0F8A72"/>
          </a:solidFill>
          <a:ln/>
        </p:spPr>
      </p:sp>
      <p:sp>
        <p:nvSpPr>
          <p:cNvPr id="6" name="Text 4"/>
          <p:cNvSpPr txBox="1"/>
          <p:nvPr/>
        </p:nvSpPr>
        <p:spPr>
          <a:xfrm>
            <a:off x="640080" y="1924812"/>
            <a:ext cx="3657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225296" y="1773936"/>
            <a:ext cx="10326319" cy="310896"/>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Integration is a data problem</a:t>
            </a:r>
            <a:endParaRPr lang="en-US" sz="1700" dirty="0"/>
          </a:p>
        </p:txBody>
      </p:sp>
      <p:sp>
        <p:nvSpPr>
          <p:cNvPr id="8" name="Text 6"/>
          <p:cNvSpPr txBox="1"/>
          <p:nvPr/>
        </p:nvSpPr>
        <p:spPr>
          <a:xfrm>
            <a:off x="1225296" y="2103120"/>
            <a:ext cx="10326319" cy="566928"/>
          </a:xfrm>
          <a:prstGeom prst="rect">
            <a:avLst/>
          </a:prstGeom>
          <a:noFill/>
          <a:ln/>
        </p:spPr>
        <p:txBody>
          <a:bodyPr wrap="square" lIns="0" tIns="0" rIns="0" bIns="0" rtlCol="0" anchor="ctr"/>
          <a:lstStyle/>
          <a:p>
            <a:pPr indent="0" marL="0">
              <a:lnSpc>
                <a:spcPct val="108000"/>
              </a:lnSpc>
              <a:buNone/>
            </a:pPr>
            <a:r>
              <a:rPr lang="en-US" sz="1250" dirty="0">
                <a:solidFill>
                  <a:srgbClr val="68738A"/>
                </a:solidFill>
                <a:latin typeface="Calibri" pitchFamily="34" charset="0"/>
                <a:ea typeface="Calibri" pitchFamily="34" charset="-122"/>
                <a:cs typeface="Calibri" pitchFamily="34" charset="-120"/>
              </a:rPr>
              <a:t>We expected to link three applications together. What it required was agreeing one definition of a student and rewriting three foreign keys. Almost no interface code was involved.</a:t>
            </a:r>
            <a:endParaRPr lang="en-US" sz="1250" dirty="0"/>
          </a:p>
        </p:txBody>
      </p:sp>
      <p:sp>
        <p:nvSpPr>
          <p:cNvPr id="9" name="Shape 7"/>
          <p:cNvSpPr/>
          <p:nvPr/>
        </p:nvSpPr>
        <p:spPr>
          <a:xfrm>
            <a:off x="640080" y="2926080"/>
            <a:ext cx="365760" cy="365760"/>
          </a:xfrm>
          <a:prstGeom prst="ellipse">
            <a:avLst/>
          </a:prstGeom>
          <a:solidFill>
            <a:srgbClr val="B8860B"/>
          </a:solidFill>
          <a:ln/>
        </p:spPr>
      </p:sp>
      <p:sp>
        <p:nvSpPr>
          <p:cNvPr id="10" name="Text 8"/>
          <p:cNvSpPr txBox="1"/>
          <p:nvPr/>
        </p:nvSpPr>
        <p:spPr>
          <a:xfrm>
            <a:off x="640080" y="2967228"/>
            <a:ext cx="365760" cy="310896"/>
          </a:xfrm>
          <a:prstGeom prst="rect">
            <a:avLst/>
          </a:prstGeom>
          <a:noFill/>
          <a:ln/>
        </p:spPr>
        <p:txBody>
          <a:bodyPr wrap="square" lIns="0" tIns="0" rIns="0" bIns="0" rtlCol="0" anchor="ctr"/>
          <a:lstStyle/>
          <a:p>
            <a:pPr algn="ctr" indent="0" marL="0">
              <a:buNone/>
            </a:pPr>
            <a:r>
              <a:rPr lang="en-US" sz="1400" b="1" dirty="0">
                <a:solidFill>
                  <a:srgbClr val="14243D"/>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225296" y="2816352"/>
            <a:ext cx="10326319" cy="310896"/>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Duplication is invisible from inside</a:t>
            </a:r>
            <a:endParaRPr lang="en-US" sz="1700" dirty="0"/>
          </a:p>
        </p:txBody>
      </p:sp>
      <p:sp>
        <p:nvSpPr>
          <p:cNvPr id="12" name="Text 10"/>
          <p:cNvSpPr txBox="1"/>
          <p:nvPr/>
        </p:nvSpPr>
        <p:spPr>
          <a:xfrm>
            <a:off x="1225296" y="3145536"/>
            <a:ext cx="10326319" cy="566928"/>
          </a:xfrm>
          <a:prstGeom prst="rect">
            <a:avLst/>
          </a:prstGeom>
          <a:noFill/>
          <a:ln/>
        </p:spPr>
        <p:txBody>
          <a:bodyPr wrap="square" lIns="0" tIns="0" rIns="0" bIns="0" rtlCol="0" anchor="ctr"/>
          <a:lstStyle/>
          <a:p>
            <a:pPr indent="0" marL="0">
              <a:lnSpc>
                <a:spcPct val="108000"/>
              </a:lnSpc>
              <a:buNone/>
            </a:pPr>
            <a:r>
              <a:rPr lang="en-US" sz="1250" dirty="0">
                <a:solidFill>
                  <a:srgbClr val="68738A"/>
                </a:solidFill>
                <a:latin typeface="Calibri" pitchFamily="34" charset="0"/>
                <a:ea typeface="Calibri" pitchFamily="34" charset="-122"/>
                <a:cs typeface="Calibri" pitchFamily="34" charset="-120"/>
              </a:rPr>
              <a:t>None of our three systems looked wrong on its own. The redundancy only appeared when we tried to join them and found no key to join on.</a:t>
            </a:r>
            <a:endParaRPr lang="en-US" sz="1250" dirty="0"/>
          </a:p>
        </p:txBody>
      </p:sp>
      <p:sp>
        <p:nvSpPr>
          <p:cNvPr id="13" name="Shape 11"/>
          <p:cNvSpPr/>
          <p:nvPr/>
        </p:nvSpPr>
        <p:spPr>
          <a:xfrm>
            <a:off x="640080" y="3968496"/>
            <a:ext cx="365760" cy="365760"/>
          </a:xfrm>
          <a:prstGeom prst="ellipse">
            <a:avLst/>
          </a:prstGeom>
          <a:solidFill>
            <a:srgbClr val="0F8A72"/>
          </a:solidFill>
          <a:ln/>
        </p:spPr>
      </p:sp>
      <p:sp>
        <p:nvSpPr>
          <p:cNvPr id="14" name="Text 12"/>
          <p:cNvSpPr txBox="1"/>
          <p:nvPr/>
        </p:nvSpPr>
        <p:spPr>
          <a:xfrm>
            <a:off x="640080" y="4009644"/>
            <a:ext cx="3657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225296" y="3858768"/>
            <a:ext cx="10326319" cy="310896"/>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Put correctness in the schema</a:t>
            </a:r>
            <a:endParaRPr lang="en-US" sz="1700" dirty="0"/>
          </a:p>
        </p:txBody>
      </p:sp>
      <p:sp>
        <p:nvSpPr>
          <p:cNvPr id="16" name="Text 14"/>
          <p:cNvSpPr txBox="1"/>
          <p:nvPr/>
        </p:nvSpPr>
        <p:spPr>
          <a:xfrm>
            <a:off x="1225296" y="4187952"/>
            <a:ext cx="10326319" cy="566928"/>
          </a:xfrm>
          <a:prstGeom prst="rect">
            <a:avLst/>
          </a:prstGeom>
          <a:noFill/>
          <a:ln/>
        </p:spPr>
        <p:txBody>
          <a:bodyPr wrap="square" lIns="0" tIns="0" rIns="0" bIns="0" rtlCol="0" anchor="ctr"/>
          <a:lstStyle/>
          <a:p>
            <a:pPr indent="0" marL="0">
              <a:lnSpc>
                <a:spcPct val="108000"/>
              </a:lnSpc>
              <a:buNone/>
            </a:pPr>
            <a:r>
              <a:rPr lang="en-US" sz="1250" dirty="0">
                <a:solidFill>
                  <a:srgbClr val="68738A"/>
                </a:solidFill>
                <a:latin typeface="Calibri" pitchFamily="34" charset="0"/>
                <a:ea typeface="Calibri" pitchFamily="34" charset="-122"/>
                <a:cs typeface="Calibri" pitchFamily="34" charset="-120"/>
              </a:rPr>
              <a:t>A unique constraint caught a mistake in our own test code. Rules held by the database apply no matter which module writes the row.</a:t>
            </a:r>
            <a:endParaRPr lang="en-US" sz="1250" dirty="0"/>
          </a:p>
        </p:txBody>
      </p:sp>
      <p:sp>
        <p:nvSpPr>
          <p:cNvPr id="17" name="Shape 15"/>
          <p:cNvSpPr/>
          <p:nvPr/>
        </p:nvSpPr>
        <p:spPr>
          <a:xfrm>
            <a:off x="640080" y="5010912"/>
            <a:ext cx="365760" cy="365760"/>
          </a:xfrm>
          <a:prstGeom prst="ellipse">
            <a:avLst/>
          </a:prstGeom>
          <a:solidFill>
            <a:srgbClr val="2F6FB5"/>
          </a:solidFill>
          <a:ln/>
        </p:spPr>
      </p:sp>
      <p:sp>
        <p:nvSpPr>
          <p:cNvPr id="18" name="Text 16"/>
          <p:cNvSpPr txBox="1"/>
          <p:nvPr/>
        </p:nvSpPr>
        <p:spPr>
          <a:xfrm>
            <a:off x="640080" y="5052060"/>
            <a:ext cx="36576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txBox="1"/>
          <p:nvPr/>
        </p:nvSpPr>
        <p:spPr>
          <a:xfrm>
            <a:off x="1225296" y="4901184"/>
            <a:ext cx="10326319" cy="310896"/>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Agree the schema early, together</a:t>
            </a:r>
            <a:endParaRPr lang="en-US" sz="1700" dirty="0"/>
          </a:p>
        </p:txBody>
      </p:sp>
      <p:sp>
        <p:nvSpPr>
          <p:cNvPr id="20" name="Text 18"/>
          <p:cNvSpPr txBox="1"/>
          <p:nvPr/>
        </p:nvSpPr>
        <p:spPr>
          <a:xfrm>
            <a:off x="1225296" y="5230368"/>
            <a:ext cx="10326319" cy="566928"/>
          </a:xfrm>
          <a:prstGeom prst="rect">
            <a:avLst/>
          </a:prstGeom>
          <a:noFill/>
          <a:ln/>
        </p:spPr>
        <p:txBody>
          <a:bodyPr wrap="square" lIns="0" tIns="0" rIns="0" bIns="0" rtlCol="0" anchor="ctr"/>
          <a:lstStyle/>
          <a:p>
            <a:pPr indent="0" marL="0">
              <a:lnSpc>
                <a:spcPct val="108000"/>
              </a:lnSpc>
              <a:buNone/>
            </a:pPr>
            <a:r>
              <a:rPr lang="en-US" sz="1250" dirty="0">
                <a:solidFill>
                  <a:srgbClr val="68738A"/>
                </a:solidFill>
                <a:latin typeface="Calibri" pitchFamily="34" charset="0"/>
                <a:ea typeface="Calibri" pitchFamily="34" charset="-122"/>
                <a:cs typeface="Calibri" pitchFamily="34" charset="-120"/>
              </a:rPr>
              <a:t>Dividing work by subsystem worked, but the shared students table became a bottleneck. Settling it in one sitting was our best decision.</a:t>
            </a:r>
            <a:endParaRPr lang="en-US" sz="1250" dirty="0"/>
          </a:p>
        </p:txBody>
      </p:sp>
      <p:sp>
        <p:nvSpPr>
          <p:cNvPr id="21" name="Text 19"/>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3</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640080" y="402336"/>
            <a:ext cx="10911535" cy="566928"/>
          </a:xfrm>
          <a:prstGeom prst="rect">
            <a:avLst/>
          </a:prstGeom>
          <a:noFill/>
          <a:ln/>
        </p:spPr>
        <p:txBody>
          <a:bodyPr wrap="square" lIns="0" tIns="0" rIns="0" bIns="0" rtlCol="0" anchor="ctr"/>
          <a:lstStyle/>
          <a:p>
            <a:pPr indent="0" marL="0">
              <a:buNone/>
            </a:pPr>
            <a:r>
              <a:rPr lang="en-US" sz="3100" b="1" dirty="0">
                <a:solidFill>
                  <a:srgbClr val="14243D"/>
                </a:solidFill>
                <a:latin typeface="Cambria" pitchFamily="34" charset="0"/>
                <a:ea typeface="Cambria" pitchFamily="34" charset="-122"/>
                <a:cs typeface="Cambria" pitchFamily="34" charset="-120"/>
              </a:rPr>
              <a:t>What we would build next</a:t>
            </a:r>
            <a:endParaRPr lang="en-US" sz="3100" dirty="0"/>
          </a:p>
        </p:txBody>
      </p:sp>
      <p:sp>
        <p:nvSpPr>
          <p:cNvPr id="4" name="Text 2"/>
          <p:cNvSpPr txBox="1"/>
          <p:nvPr/>
        </p:nvSpPr>
        <p:spPr>
          <a:xfrm>
            <a:off x="640080" y="987552"/>
            <a:ext cx="10911535" cy="310896"/>
          </a:xfrm>
          <a:prstGeom prst="rect">
            <a:avLst/>
          </a:prstGeom>
          <a:noFill/>
          <a:ln/>
        </p:spPr>
        <p:txBody>
          <a:bodyPr wrap="square" lIns="0" tIns="0" rIns="0" bIns="0" rtlCol="0" anchor="ctr"/>
          <a:lstStyle/>
          <a:p>
            <a:pPr indent="0" marL="0">
              <a:buNone/>
            </a:pPr>
            <a:r>
              <a:rPr lang="en-US" sz="1400" i="1" dirty="0">
                <a:solidFill>
                  <a:srgbClr val="68738A"/>
                </a:solidFill>
                <a:latin typeface="Calibri" pitchFamily="34" charset="0"/>
                <a:ea typeface="Calibri" pitchFamily="34" charset="-122"/>
                <a:cs typeface="Calibri" pitchFamily="34" charset="-120"/>
              </a:rPr>
              <a:t>Ordered by value against effort. The first column is close to free.</a:t>
            </a:r>
            <a:endParaRPr lang="en-US" sz="1400" dirty="0"/>
          </a:p>
        </p:txBody>
      </p:sp>
      <p:sp>
        <p:nvSpPr>
          <p:cNvPr id="5" name="Shape 3"/>
          <p:cNvSpPr/>
          <p:nvPr/>
        </p:nvSpPr>
        <p:spPr>
          <a:xfrm>
            <a:off x="640080" y="1737360"/>
            <a:ext cx="3442106" cy="3200400"/>
          </a:xfrm>
          <a:prstGeom prst="roundRect">
            <a:avLst>
              <a:gd name="adj" fmla="val 1429"/>
            </a:avLst>
          </a:prstGeom>
          <a:solidFill>
            <a:srgbClr val="F4F7FA"/>
          </a:solidFill>
          <a:ln w="12700">
            <a:solidFill>
              <a:srgbClr val="D9DEE7"/>
            </a:solidFill>
            <a:prstDash val="solid"/>
          </a:ln>
        </p:spPr>
      </p:sp>
      <p:sp>
        <p:nvSpPr>
          <p:cNvPr id="6" name="Shape 4"/>
          <p:cNvSpPr/>
          <p:nvPr/>
        </p:nvSpPr>
        <p:spPr>
          <a:xfrm>
            <a:off x="896112" y="1975104"/>
            <a:ext cx="237744" cy="237744"/>
          </a:xfrm>
          <a:prstGeom prst="ellipse">
            <a:avLst/>
          </a:prstGeom>
          <a:solidFill>
            <a:srgbClr val="0F8A72"/>
          </a:solidFill>
          <a:ln/>
        </p:spPr>
      </p:sp>
      <p:sp>
        <p:nvSpPr>
          <p:cNvPr id="7" name="Text 5"/>
          <p:cNvSpPr txBox="1"/>
          <p:nvPr/>
        </p:nvSpPr>
        <p:spPr>
          <a:xfrm>
            <a:off x="1243584" y="1975104"/>
            <a:ext cx="2582570" cy="256032"/>
          </a:xfrm>
          <a:prstGeom prst="rect">
            <a:avLst/>
          </a:prstGeom>
          <a:noFill/>
          <a:ln/>
        </p:spPr>
        <p:txBody>
          <a:bodyPr wrap="square" lIns="0" tIns="0" rIns="0" bIns="0" rtlCol="0" anchor="ctr"/>
          <a:lstStyle/>
          <a:p>
            <a:pPr indent="0" marL="0">
              <a:buNone/>
            </a:pPr>
            <a:r>
              <a:rPr lang="en-US" sz="1000" b="1" spc="140" kern="0" dirty="0">
                <a:solidFill>
                  <a:srgbClr val="0F8A72"/>
                </a:solidFill>
                <a:latin typeface="Calibri" pitchFamily="34" charset="0"/>
                <a:ea typeface="Calibri" pitchFamily="34" charset="-122"/>
                <a:cs typeface="Calibri" pitchFamily="34" charset="-120"/>
              </a:rPr>
              <a:t>READY TO BUILD</a:t>
            </a:r>
            <a:endParaRPr lang="en-US" sz="1000" dirty="0"/>
          </a:p>
        </p:txBody>
      </p:sp>
      <p:sp>
        <p:nvSpPr>
          <p:cNvPr id="8" name="Text 6"/>
          <p:cNvSpPr txBox="1"/>
          <p:nvPr/>
        </p:nvSpPr>
        <p:spPr>
          <a:xfrm>
            <a:off x="896112" y="2450592"/>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Automatic notification</a:t>
            </a:r>
            <a:endParaRPr lang="en-US" sz="1400" dirty="0"/>
          </a:p>
        </p:txBody>
      </p:sp>
      <p:sp>
        <p:nvSpPr>
          <p:cNvPr id="9" name="Text 7"/>
          <p:cNvSpPr txBox="1"/>
          <p:nvPr/>
        </p:nvSpPr>
        <p:spPr>
          <a:xfrm>
            <a:off x="896112" y="2761488"/>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Email a student and adviser when attendance drops below the rule. The calculation exists; only delivery is missing.</a:t>
            </a:r>
            <a:endParaRPr lang="en-US" sz="1150" dirty="0"/>
          </a:p>
        </p:txBody>
      </p:sp>
      <p:sp>
        <p:nvSpPr>
          <p:cNvPr id="10" name="Text 8"/>
          <p:cNvSpPr txBox="1"/>
          <p:nvPr/>
        </p:nvSpPr>
        <p:spPr>
          <a:xfrm>
            <a:off x="896112" y="3621024"/>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Bulk import</a:t>
            </a:r>
            <a:endParaRPr lang="en-US" sz="1400" dirty="0"/>
          </a:p>
        </p:txBody>
      </p:sp>
      <p:sp>
        <p:nvSpPr>
          <p:cNvPr id="11" name="Text 9"/>
          <p:cNvSpPr txBox="1"/>
          <p:nvPr/>
        </p:nvSpPr>
        <p:spPr>
          <a:xfrm>
            <a:off x="896112" y="3931920"/>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Load an intake cohort from a spreadsheet, with a validation report before committing.</a:t>
            </a:r>
            <a:endParaRPr lang="en-US" sz="1150" dirty="0"/>
          </a:p>
        </p:txBody>
      </p:sp>
      <p:sp>
        <p:nvSpPr>
          <p:cNvPr id="12" name="Shape 10"/>
          <p:cNvSpPr/>
          <p:nvPr/>
        </p:nvSpPr>
        <p:spPr>
          <a:xfrm>
            <a:off x="4374794" y="1737360"/>
            <a:ext cx="3442106" cy="3200400"/>
          </a:xfrm>
          <a:prstGeom prst="roundRect">
            <a:avLst>
              <a:gd name="adj" fmla="val 1429"/>
            </a:avLst>
          </a:prstGeom>
          <a:solidFill>
            <a:srgbClr val="F4F7FA"/>
          </a:solidFill>
          <a:ln w="12700">
            <a:solidFill>
              <a:srgbClr val="D9DEE7"/>
            </a:solidFill>
            <a:prstDash val="solid"/>
          </a:ln>
        </p:spPr>
      </p:sp>
      <p:sp>
        <p:nvSpPr>
          <p:cNvPr id="13" name="Shape 11"/>
          <p:cNvSpPr/>
          <p:nvPr/>
        </p:nvSpPr>
        <p:spPr>
          <a:xfrm>
            <a:off x="4630826" y="1975104"/>
            <a:ext cx="237744" cy="237744"/>
          </a:xfrm>
          <a:prstGeom prst="ellipse">
            <a:avLst/>
          </a:prstGeom>
          <a:solidFill>
            <a:srgbClr val="B8860B"/>
          </a:solidFill>
          <a:ln/>
        </p:spPr>
      </p:sp>
      <p:sp>
        <p:nvSpPr>
          <p:cNvPr id="14" name="Text 12"/>
          <p:cNvSpPr txBox="1"/>
          <p:nvPr/>
        </p:nvSpPr>
        <p:spPr>
          <a:xfrm>
            <a:off x="4978298" y="1975104"/>
            <a:ext cx="2582570" cy="256032"/>
          </a:xfrm>
          <a:prstGeom prst="rect">
            <a:avLst/>
          </a:prstGeom>
          <a:noFill/>
          <a:ln/>
        </p:spPr>
        <p:txBody>
          <a:bodyPr wrap="square" lIns="0" tIns="0" rIns="0" bIns="0" rtlCol="0" anchor="ctr"/>
          <a:lstStyle/>
          <a:p>
            <a:pPr indent="0" marL="0">
              <a:buNone/>
            </a:pPr>
            <a:r>
              <a:rPr lang="en-US" sz="1000" b="1" spc="140" kern="0" dirty="0">
                <a:solidFill>
                  <a:srgbClr val="B8860B"/>
                </a:solidFill>
                <a:latin typeface="Calibri" pitchFamily="34" charset="0"/>
                <a:ea typeface="Calibri" pitchFamily="34" charset="-122"/>
                <a:cs typeface="Calibri" pitchFamily="34" charset="-120"/>
              </a:rPr>
              <a:t>REAL WORK</a:t>
            </a:r>
            <a:endParaRPr lang="en-US" sz="1000" dirty="0"/>
          </a:p>
        </p:txBody>
      </p:sp>
      <p:sp>
        <p:nvSpPr>
          <p:cNvPr id="15" name="Text 13"/>
          <p:cNvSpPr txBox="1"/>
          <p:nvPr/>
        </p:nvSpPr>
        <p:spPr>
          <a:xfrm>
            <a:off x="4630826" y="2450592"/>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Audit trail</a:t>
            </a:r>
            <a:endParaRPr lang="en-US" sz="1400" dirty="0"/>
          </a:p>
        </p:txBody>
      </p:sp>
      <p:sp>
        <p:nvSpPr>
          <p:cNvPr id="16" name="Text 14"/>
          <p:cNvSpPr txBox="1"/>
          <p:nvPr/>
        </p:nvSpPr>
        <p:spPr>
          <a:xfrm>
            <a:off x="4630826" y="2761488"/>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Record who changed which field and when, which a registry system would normally require.</a:t>
            </a:r>
            <a:endParaRPr lang="en-US" sz="1150" dirty="0"/>
          </a:p>
        </p:txBody>
      </p:sp>
      <p:sp>
        <p:nvSpPr>
          <p:cNvPr id="17" name="Text 15"/>
          <p:cNvSpPr txBox="1"/>
          <p:nvPr/>
        </p:nvSpPr>
        <p:spPr>
          <a:xfrm>
            <a:off x="4630826" y="3621024"/>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Document attachments</a:t>
            </a:r>
            <a:endParaRPr lang="en-US" sz="1400" dirty="0"/>
          </a:p>
        </p:txBody>
      </p:sp>
      <p:sp>
        <p:nvSpPr>
          <p:cNvPr id="18" name="Text 16"/>
          <p:cNvSpPr txBox="1"/>
          <p:nvPr/>
        </p:nvSpPr>
        <p:spPr>
          <a:xfrm>
            <a:off x="4630826" y="3931920"/>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Store certificates and identity documents, extending the existing upload handling.</a:t>
            </a:r>
            <a:endParaRPr lang="en-US" sz="1150" dirty="0"/>
          </a:p>
        </p:txBody>
      </p:sp>
      <p:sp>
        <p:nvSpPr>
          <p:cNvPr id="19" name="Shape 17"/>
          <p:cNvSpPr/>
          <p:nvPr/>
        </p:nvSpPr>
        <p:spPr>
          <a:xfrm>
            <a:off x="8109509" y="1737360"/>
            <a:ext cx="3442106" cy="3200400"/>
          </a:xfrm>
          <a:prstGeom prst="roundRect">
            <a:avLst>
              <a:gd name="adj" fmla="val 1429"/>
            </a:avLst>
          </a:prstGeom>
          <a:solidFill>
            <a:srgbClr val="F4F7FA"/>
          </a:solidFill>
          <a:ln w="12700">
            <a:solidFill>
              <a:srgbClr val="D9DEE7"/>
            </a:solidFill>
            <a:prstDash val="solid"/>
          </a:ln>
        </p:spPr>
      </p:sp>
      <p:sp>
        <p:nvSpPr>
          <p:cNvPr id="20" name="Shape 18"/>
          <p:cNvSpPr/>
          <p:nvPr/>
        </p:nvSpPr>
        <p:spPr>
          <a:xfrm>
            <a:off x="8365541" y="1975104"/>
            <a:ext cx="237744" cy="237744"/>
          </a:xfrm>
          <a:prstGeom prst="ellipse">
            <a:avLst/>
          </a:prstGeom>
          <a:solidFill>
            <a:srgbClr val="68738A"/>
          </a:solidFill>
          <a:ln/>
        </p:spPr>
      </p:sp>
      <p:sp>
        <p:nvSpPr>
          <p:cNvPr id="21" name="Text 19"/>
          <p:cNvSpPr txBox="1"/>
          <p:nvPr/>
        </p:nvSpPr>
        <p:spPr>
          <a:xfrm>
            <a:off x="8713013" y="1975104"/>
            <a:ext cx="2582570" cy="256032"/>
          </a:xfrm>
          <a:prstGeom prst="rect">
            <a:avLst/>
          </a:prstGeom>
          <a:noFill/>
          <a:ln/>
        </p:spPr>
        <p:txBody>
          <a:bodyPr wrap="square" lIns="0" tIns="0" rIns="0" bIns="0" rtlCol="0" anchor="ctr"/>
          <a:lstStyle/>
          <a:p>
            <a:pPr indent="0" marL="0">
              <a:buNone/>
            </a:pPr>
            <a:r>
              <a:rPr lang="en-US" sz="1000" b="1" spc="140" kern="0" dirty="0">
                <a:solidFill>
                  <a:srgbClr val="68738A"/>
                </a:solidFill>
                <a:latin typeface="Calibri" pitchFamily="34" charset="0"/>
                <a:ea typeface="Calibri" pitchFamily="34" charset="-122"/>
                <a:cs typeface="Calibri" pitchFamily="34" charset="-120"/>
              </a:rPr>
              <a:t>LARGER SCOPE</a:t>
            </a:r>
            <a:endParaRPr lang="en-US" sz="1000" dirty="0"/>
          </a:p>
        </p:txBody>
      </p:sp>
      <p:sp>
        <p:nvSpPr>
          <p:cNvPr id="22" name="Text 20"/>
          <p:cNvSpPr txBox="1"/>
          <p:nvPr/>
        </p:nvSpPr>
        <p:spPr>
          <a:xfrm>
            <a:off x="8365541" y="2450592"/>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Full module interfaces</a:t>
            </a:r>
            <a:endParaRPr lang="en-US" sz="1400" dirty="0"/>
          </a:p>
        </p:txBody>
      </p:sp>
      <p:sp>
        <p:nvSpPr>
          <p:cNvPr id="23" name="Text 21"/>
          <p:cNvSpPr txBox="1"/>
          <p:nvPr/>
        </p:nvSpPr>
        <p:spPr>
          <a:xfrm>
            <a:off x="8365541" y="2761488"/>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Bring the complete administrative screens of all three subsystems into this application.</a:t>
            </a:r>
            <a:endParaRPr lang="en-US" sz="1150" dirty="0"/>
          </a:p>
        </p:txBody>
      </p:sp>
      <p:sp>
        <p:nvSpPr>
          <p:cNvPr id="24" name="Text 22"/>
          <p:cNvSpPr txBox="1"/>
          <p:nvPr/>
        </p:nvSpPr>
        <p:spPr>
          <a:xfrm>
            <a:off x="8365541" y="3621024"/>
            <a:ext cx="2930042" cy="292608"/>
          </a:xfrm>
          <a:prstGeom prst="rect">
            <a:avLst/>
          </a:prstGeom>
          <a:noFill/>
          <a:ln/>
        </p:spPr>
        <p:txBody>
          <a:bodyPr wrap="square" lIns="0" tIns="0" rIns="0" bIns="0" rtlCol="0" anchor="ctr"/>
          <a:lstStyle/>
          <a:p>
            <a:pPr indent="0" marL="0">
              <a:buNone/>
            </a:pPr>
            <a:r>
              <a:rPr lang="en-US" sz="1400" b="1" dirty="0">
                <a:solidFill>
                  <a:srgbClr val="14243D"/>
                </a:solidFill>
                <a:latin typeface="Cambria" pitchFamily="34" charset="0"/>
                <a:ea typeface="Cambria" pitchFamily="34" charset="-122"/>
                <a:cs typeface="Cambria" pitchFamily="34" charset="-120"/>
              </a:rPr>
              <a:t>Programme progression</a:t>
            </a:r>
            <a:endParaRPr lang="en-US" sz="1400" dirty="0"/>
          </a:p>
        </p:txBody>
      </p:sp>
      <p:sp>
        <p:nvSpPr>
          <p:cNvPr id="25" name="Text 23"/>
          <p:cNvSpPr txBox="1"/>
          <p:nvPr/>
        </p:nvSpPr>
        <p:spPr>
          <a:xfrm>
            <a:off x="8365541" y="3931920"/>
            <a:ext cx="2930042" cy="786384"/>
          </a:xfrm>
          <a:prstGeom prst="rect">
            <a:avLst/>
          </a:prstGeom>
          <a:noFill/>
          <a:ln/>
        </p:spPr>
        <p:txBody>
          <a:bodyPr wrap="square" lIns="0" tIns="0" rIns="0" bIns="0" rtlCol="0" anchor="ctr"/>
          <a:lstStyle/>
          <a:p>
            <a:pPr indent="0" marL="0">
              <a:lnSpc>
                <a:spcPct val="108000"/>
              </a:lnSpc>
              <a:buNone/>
            </a:pPr>
            <a:r>
              <a:rPr lang="en-US" sz="1150" dirty="0">
                <a:solidFill>
                  <a:srgbClr val="68738A"/>
                </a:solidFill>
                <a:latin typeface="Calibri" pitchFamily="34" charset="0"/>
                <a:ea typeface="Calibri" pitchFamily="34" charset="-122"/>
                <a:cs typeface="Calibri" pitchFamily="34" charset="-120"/>
              </a:rPr>
              <a:t>Track credits earned and year of study, enabling progression reporting.</a:t>
            </a:r>
            <a:endParaRPr lang="en-US" sz="1150" dirty="0"/>
          </a:p>
        </p:txBody>
      </p:sp>
      <p:sp>
        <p:nvSpPr>
          <p:cNvPr id="26" name="Text 24"/>
          <p:cNvSpPr txBox="1"/>
          <p:nvPr/>
        </p:nvSpPr>
        <p:spPr>
          <a:xfrm>
            <a:off x="640080" y="5138928"/>
            <a:ext cx="10911535" cy="402336"/>
          </a:xfrm>
          <a:prstGeom prst="rect">
            <a:avLst/>
          </a:prstGeom>
          <a:noFill/>
          <a:ln/>
        </p:spPr>
        <p:txBody>
          <a:bodyPr wrap="square" lIns="0" tIns="0" rIns="0" bIns="0" rtlCol="0" anchor="ctr"/>
          <a:lstStyle/>
          <a:p>
            <a:pPr indent="0" marL="0">
              <a:buNone/>
            </a:pPr>
            <a:r>
              <a:rPr lang="en-US" sz="1300" i="1" dirty="0">
                <a:solidFill>
                  <a:srgbClr val="14243D"/>
                </a:solidFill>
                <a:latin typeface="Calibri" pitchFamily="34" charset="0"/>
                <a:ea typeface="Calibri" pitchFamily="34" charset="-122"/>
                <a:cs typeface="Calibri" pitchFamily="34" charset="-120"/>
              </a:rPr>
              <a:t>The highest-value addition is notification: the system already knows who is at risk, it just does not tell anyone yet.</a:t>
            </a:r>
            <a:endParaRPr lang="en-US" sz="1300" dirty="0"/>
          </a:p>
        </p:txBody>
      </p:sp>
      <p:sp>
        <p:nvSpPr>
          <p:cNvPr id="27" name="Text 25"/>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68738A"/>
                </a:solidFill>
                <a:latin typeface="Calibri" pitchFamily="34" charset="0"/>
                <a:ea typeface="Calibri" pitchFamily="34" charset="-122"/>
                <a:cs typeface="Calibri" pitchFamily="34" charset="-120"/>
              </a:rPr>
              <a:t>MEMBER 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43D"/>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640080" y="1051560"/>
            <a:ext cx="10911535" cy="292608"/>
          </a:xfrm>
          <a:prstGeom prst="rect">
            <a:avLst/>
          </a:prstGeom>
          <a:noFill/>
          <a:ln/>
        </p:spPr>
        <p:txBody>
          <a:bodyPr wrap="square" lIns="0" tIns="0" rIns="0" bIns="0" rtlCol="0" anchor="ctr"/>
          <a:lstStyle/>
          <a:p>
            <a:pPr indent="0" marL="0">
              <a:buNone/>
            </a:pPr>
            <a:r>
              <a:rPr lang="en-US" sz="1200" b="1" spc="240" kern="0" dirty="0">
                <a:solidFill>
                  <a:srgbClr val="0F8A72"/>
                </a:solidFill>
                <a:latin typeface="Calibri" pitchFamily="34" charset="0"/>
                <a:ea typeface="Calibri" pitchFamily="34" charset="-122"/>
                <a:cs typeface="Calibri" pitchFamily="34" charset="-120"/>
              </a:rPr>
              <a:t>IN CLOSING</a:t>
            </a:r>
            <a:endParaRPr lang="en-US" sz="1200" dirty="0"/>
          </a:p>
        </p:txBody>
      </p:sp>
      <p:sp>
        <p:nvSpPr>
          <p:cNvPr id="4" name="Text 2"/>
          <p:cNvSpPr txBox="1"/>
          <p:nvPr/>
        </p:nvSpPr>
        <p:spPr>
          <a:xfrm>
            <a:off x="640080" y="1444752"/>
            <a:ext cx="1042416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student tables became one.</a:t>
            </a:r>
            <a:endParaRPr lang="en-US" sz="3200" dirty="0"/>
          </a:p>
        </p:txBody>
      </p:sp>
      <p:sp>
        <p:nvSpPr>
          <p:cNvPr id="5" name="Text 3"/>
          <p:cNvSpPr txBox="1"/>
          <p:nvPr/>
        </p:nvSpPr>
        <p:spPr>
          <a:xfrm>
            <a:off x="640080" y="2048256"/>
            <a:ext cx="10424160" cy="548640"/>
          </a:xfrm>
          <a:prstGeom prst="rect">
            <a:avLst/>
          </a:prstGeom>
          <a:noFill/>
          <a:ln/>
        </p:spPr>
        <p:txBody>
          <a:bodyPr wrap="square" lIns="0" tIns="0" rIns="0" bIns="0" rtlCol="0" anchor="ctr"/>
          <a:lstStyle/>
          <a:p>
            <a:pPr indent="0" marL="0">
              <a:lnSpc>
                <a:spcPct val="114000"/>
              </a:lnSpc>
              <a:buNone/>
            </a:pPr>
            <a:r>
              <a:rPr lang="en-US" sz="1450" dirty="0">
                <a:solidFill>
                  <a:srgbClr val="B9C6DB"/>
                </a:solidFill>
                <a:latin typeface="Calibri" pitchFamily="34" charset="0"/>
                <a:ea typeface="Calibri" pitchFamily="34" charset="-122"/>
                <a:cs typeface="Calibri" pitchFamily="34" charset="-120"/>
              </a:rPr>
              <a:t>A phone number is stored once. A question spanning attendance and complaints can finally be asked. And the registry can see, for the first time, which records are incomplete.</a:t>
            </a:r>
            <a:endParaRPr lang="en-US" sz="1450" dirty="0"/>
          </a:p>
        </p:txBody>
      </p:sp>
      <p:sp>
        <p:nvSpPr>
          <p:cNvPr id="6" name="Shape 4"/>
          <p:cNvSpPr/>
          <p:nvPr/>
        </p:nvSpPr>
        <p:spPr>
          <a:xfrm>
            <a:off x="640080" y="2798064"/>
            <a:ext cx="3442106" cy="1600200"/>
          </a:xfrm>
          <a:prstGeom prst="roundRect">
            <a:avLst>
              <a:gd name="adj" fmla="val 2857"/>
            </a:avLst>
          </a:prstGeom>
          <a:solidFill>
            <a:srgbClr val="1D3459"/>
          </a:solidFill>
          <a:ln w="12700">
            <a:solidFill>
              <a:srgbClr val="2C4574"/>
            </a:solidFill>
            <a:prstDash val="solid"/>
          </a:ln>
        </p:spPr>
      </p:sp>
      <p:sp>
        <p:nvSpPr>
          <p:cNvPr id="7" name="Text 5"/>
          <p:cNvSpPr txBox="1"/>
          <p:nvPr/>
        </p:nvSpPr>
        <p:spPr>
          <a:xfrm>
            <a:off x="896112" y="3035808"/>
            <a:ext cx="2930042"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One shared record</a:t>
            </a:r>
            <a:endParaRPr lang="en-US" sz="1500" dirty="0"/>
          </a:p>
        </p:txBody>
      </p:sp>
      <p:sp>
        <p:nvSpPr>
          <p:cNvPr id="8" name="Text 6"/>
          <p:cNvSpPr txBox="1"/>
          <p:nvPr/>
        </p:nvSpPr>
        <p:spPr>
          <a:xfrm>
            <a:off x="896112" y="3529584"/>
            <a:ext cx="2930042" cy="731520"/>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Attendance, submission and complaint data all resolve through a single profile.</a:t>
            </a:r>
            <a:endParaRPr lang="en-US" sz="1150" dirty="0"/>
          </a:p>
        </p:txBody>
      </p:sp>
      <p:sp>
        <p:nvSpPr>
          <p:cNvPr id="9" name="Shape 7"/>
          <p:cNvSpPr/>
          <p:nvPr/>
        </p:nvSpPr>
        <p:spPr>
          <a:xfrm>
            <a:off x="4374794" y="2798064"/>
            <a:ext cx="3442106" cy="1600200"/>
          </a:xfrm>
          <a:prstGeom prst="roundRect">
            <a:avLst>
              <a:gd name="adj" fmla="val 2857"/>
            </a:avLst>
          </a:prstGeom>
          <a:solidFill>
            <a:srgbClr val="1D3459"/>
          </a:solidFill>
          <a:ln w="12700">
            <a:solidFill>
              <a:srgbClr val="2C4574"/>
            </a:solidFill>
            <a:prstDash val="solid"/>
          </a:ln>
        </p:spPr>
      </p:sp>
      <p:sp>
        <p:nvSpPr>
          <p:cNvPr id="10" name="Text 8"/>
          <p:cNvSpPr txBox="1"/>
          <p:nvPr/>
        </p:nvSpPr>
        <p:spPr>
          <a:xfrm>
            <a:off x="4630826" y="3035808"/>
            <a:ext cx="2930042"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Correctness in the schema</a:t>
            </a:r>
            <a:endParaRPr lang="en-US" sz="1500" dirty="0"/>
          </a:p>
        </p:txBody>
      </p:sp>
      <p:sp>
        <p:nvSpPr>
          <p:cNvPr id="11" name="Text 9"/>
          <p:cNvSpPr txBox="1"/>
          <p:nvPr/>
        </p:nvSpPr>
        <p:spPr>
          <a:xfrm>
            <a:off x="4630826" y="3529584"/>
            <a:ext cx="2930042" cy="731520"/>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Unique constraints and soft deletes protect the record no matter which module writes.</a:t>
            </a:r>
            <a:endParaRPr lang="en-US" sz="1150" dirty="0"/>
          </a:p>
        </p:txBody>
      </p:sp>
      <p:sp>
        <p:nvSpPr>
          <p:cNvPr id="12" name="Shape 10"/>
          <p:cNvSpPr/>
          <p:nvPr/>
        </p:nvSpPr>
        <p:spPr>
          <a:xfrm>
            <a:off x="8109509" y="2798064"/>
            <a:ext cx="3442106" cy="1600200"/>
          </a:xfrm>
          <a:prstGeom prst="roundRect">
            <a:avLst>
              <a:gd name="adj" fmla="val 2857"/>
            </a:avLst>
          </a:prstGeom>
          <a:solidFill>
            <a:srgbClr val="1D3459"/>
          </a:solidFill>
          <a:ln w="12700">
            <a:solidFill>
              <a:srgbClr val="2C4574"/>
            </a:solidFill>
            <a:prstDash val="solid"/>
          </a:ln>
        </p:spPr>
      </p:sp>
      <p:sp>
        <p:nvSpPr>
          <p:cNvPr id="13" name="Text 11"/>
          <p:cNvSpPr txBox="1"/>
          <p:nvPr/>
        </p:nvSpPr>
        <p:spPr>
          <a:xfrm>
            <a:off x="8365541" y="3035808"/>
            <a:ext cx="2930042"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Verified, not just shown</a:t>
            </a:r>
            <a:endParaRPr lang="en-US" sz="1500" dirty="0"/>
          </a:p>
        </p:txBody>
      </p:sp>
      <p:sp>
        <p:nvSpPr>
          <p:cNvPr id="14" name="Text 12"/>
          <p:cNvSpPr txBox="1"/>
          <p:nvPr/>
        </p:nvSpPr>
        <p:spPr>
          <a:xfrm>
            <a:off x="8365541" y="3529584"/>
            <a:ext cx="2930042" cy="731520"/>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129 automated tests across four levels, with 80 documented cases traced to requirements.</a:t>
            </a:r>
            <a:endParaRPr lang="en-US" sz="1150" dirty="0"/>
          </a:p>
        </p:txBody>
      </p:sp>
      <p:sp>
        <p:nvSpPr>
          <p:cNvPr id="15" name="Text 13"/>
          <p:cNvSpPr txBox="1"/>
          <p:nvPr/>
        </p:nvSpPr>
        <p:spPr>
          <a:xfrm>
            <a:off x="640080" y="4626864"/>
            <a:ext cx="2508428" cy="512064"/>
          </a:xfrm>
          <a:prstGeom prst="rect">
            <a:avLst/>
          </a:prstGeom>
          <a:noFill/>
          <a:ln/>
        </p:spPr>
        <p:txBody>
          <a:bodyPr wrap="square" lIns="0" tIns="0" rIns="0" bIns="0" rtlCol="0" anchor="ctr"/>
          <a:lstStyle/>
          <a:p>
            <a:pPr indent="0" marL="0">
              <a:buNone/>
            </a:pPr>
            <a:r>
              <a:rPr lang="en-US" sz="3200" b="1" dirty="0">
                <a:solidFill>
                  <a:srgbClr val="0F8A72"/>
                </a:solidFill>
                <a:latin typeface="Cambria" pitchFamily="34" charset="0"/>
                <a:ea typeface="Cambria" pitchFamily="34" charset="-122"/>
                <a:cs typeface="Cambria" pitchFamily="34" charset="-120"/>
              </a:rPr>
              <a:t>68</a:t>
            </a:r>
            <a:endParaRPr lang="en-US" sz="3200" dirty="0"/>
          </a:p>
        </p:txBody>
      </p:sp>
      <p:sp>
        <p:nvSpPr>
          <p:cNvPr id="16" name="Text 14"/>
          <p:cNvSpPr txBox="1"/>
          <p:nvPr/>
        </p:nvSpPr>
        <p:spPr>
          <a:xfrm>
            <a:off x="640080" y="5157216"/>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requirements delivered</a:t>
            </a:r>
            <a:endParaRPr lang="en-US" sz="1100" dirty="0"/>
          </a:p>
        </p:txBody>
      </p:sp>
      <p:sp>
        <p:nvSpPr>
          <p:cNvPr id="17" name="Text 15"/>
          <p:cNvSpPr txBox="1"/>
          <p:nvPr/>
        </p:nvSpPr>
        <p:spPr>
          <a:xfrm>
            <a:off x="3441116" y="4626864"/>
            <a:ext cx="2508428" cy="512064"/>
          </a:xfrm>
          <a:prstGeom prst="rect">
            <a:avLst/>
          </a:prstGeom>
          <a:noFill/>
          <a:ln/>
        </p:spPr>
        <p:txBody>
          <a:bodyPr wrap="square" lIns="0" tIns="0" rIns="0" bIns="0" rtlCol="0" anchor="ctr"/>
          <a:lstStyle/>
          <a:p>
            <a:pPr indent="0" marL="0">
              <a:buNone/>
            </a:pPr>
            <a:r>
              <a:rPr lang="en-US" sz="3200" b="1" dirty="0">
                <a:solidFill>
                  <a:srgbClr val="0F8A72"/>
                </a:solidFill>
                <a:latin typeface="Cambria" pitchFamily="34" charset="0"/>
                <a:ea typeface="Cambria" pitchFamily="34" charset="-122"/>
                <a:cs typeface="Cambria" pitchFamily="34" charset="-120"/>
              </a:rPr>
              <a:t>16</a:t>
            </a:r>
            <a:endParaRPr lang="en-US" sz="3200" dirty="0"/>
          </a:p>
        </p:txBody>
      </p:sp>
      <p:sp>
        <p:nvSpPr>
          <p:cNvPr id="18" name="Text 16"/>
          <p:cNvSpPr txBox="1"/>
          <p:nvPr/>
        </p:nvSpPr>
        <p:spPr>
          <a:xfrm>
            <a:off x="3441116" y="5157216"/>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tables, third normal form</a:t>
            </a:r>
            <a:endParaRPr lang="en-US" sz="1100" dirty="0"/>
          </a:p>
        </p:txBody>
      </p:sp>
      <p:sp>
        <p:nvSpPr>
          <p:cNvPr id="19" name="Text 17"/>
          <p:cNvSpPr txBox="1"/>
          <p:nvPr/>
        </p:nvSpPr>
        <p:spPr>
          <a:xfrm>
            <a:off x="6242152" y="4626864"/>
            <a:ext cx="2508428" cy="512064"/>
          </a:xfrm>
          <a:prstGeom prst="rect">
            <a:avLst/>
          </a:prstGeom>
          <a:noFill/>
          <a:ln/>
        </p:spPr>
        <p:txBody>
          <a:bodyPr wrap="square" lIns="0" tIns="0" rIns="0" bIns="0" rtlCol="0" anchor="ctr"/>
          <a:lstStyle/>
          <a:p>
            <a:pPr indent="0" marL="0">
              <a:buNone/>
            </a:pPr>
            <a:r>
              <a:rPr lang="en-US" sz="3200" b="1" dirty="0">
                <a:solidFill>
                  <a:srgbClr val="0F8A72"/>
                </a:solidFill>
                <a:latin typeface="Cambria" pitchFamily="34" charset="0"/>
                <a:ea typeface="Cambria" pitchFamily="34" charset="-122"/>
                <a:cs typeface="Cambria" pitchFamily="34" charset="-120"/>
              </a:rPr>
              <a:t>129</a:t>
            </a:r>
            <a:endParaRPr lang="en-US" sz="3200" dirty="0"/>
          </a:p>
        </p:txBody>
      </p:sp>
      <p:sp>
        <p:nvSpPr>
          <p:cNvPr id="20" name="Text 18"/>
          <p:cNvSpPr txBox="1"/>
          <p:nvPr/>
        </p:nvSpPr>
        <p:spPr>
          <a:xfrm>
            <a:off x="6242152" y="5157216"/>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tests passing</a:t>
            </a:r>
            <a:endParaRPr lang="en-US" sz="1100" dirty="0"/>
          </a:p>
        </p:txBody>
      </p:sp>
      <p:sp>
        <p:nvSpPr>
          <p:cNvPr id="21" name="Text 19"/>
          <p:cNvSpPr txBox="1"/>
          <p:nvPr/>
        </p:nvSpPr>
        <p:spPr>
          <a:xfrm>
            <a:off x="9043187" y="4626864"/>
            <a:ext cx="2508428" cy="512064"/>
          </a:xfrm>
          <a:prstGeom prst="rect">
            <a:avLst/>
          </a:prstGeom>
          <a:noFill/>
          <a:ln/>
        </p:spPr>
        <p:txBody>
          <a:bodyPr wrap="square" lIns="0" tIns="0" rIns="0" bIns="0" rtlCol="0" anchor="ctr"/>
          <a:lstStyle/>
          <a:p>
            <a:pPr indent="0" marL="0">
              <a:buNone/>
            </a:pPr>
            <a:r>
              <a:rPr lang="en-US" sz="3200" b="1" dirty="0">
                <a:solidFill>
                  <a:srgbClr val="0F8A72"/>
                </a:solidFill>
                <a:latin typeface="Cambria" pitchFamily="34" charset="0"/>
                <a:ea typeface="Cambria" pitchFamily="34" charset="-122"/>
                <a:cs typeface="Cambria" pitchFamily="34" charset="-120"/>
              </a:rPr>
              <a:t>0</a:t>
            </a:r>
            <a:endParaRPr lang="en-US" sz="3200" dirty="0"/>
          </a:p>
        </p:txBody>
      </p:sp>
      <p:sp>
        <p:nvSpPr>
          <p:cNvPr id="22" name="Text 20"/>
          <p:cNvSpPr txBox="1"/>
          <p:nvPr/>
        </p:nvSpPr>
        <p:spPr>
          <a:xfrm>
            <a:off x="9043187" y="5157216"/>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build steps needed</a:t>
            </a:r>
            <a:endParaRPr lang="en-US" sz="1100" dirty="0"/>
          </a:p>
        </p:txBody>
      </p:sp>
      <p:sp>
        <p:nvSpPr>
          <p:cNvPr id="23" name="Text 21"/>
          <p:cNvSpPr txBox="1"/>
          <p:nvPr/>
        </p:nvSpPr>
        <p:spPr>
          <a:xfrm>
            <a:off x="640080" y="5742432"/>
            <a:ext cx="64008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Thank you  -  questions welcome</a:t>
            </a:r>
            <a:endParaRPr lang="en-US" sz="1600" dirty="0"/>
          </a:p>
        </p:txBody>
      </p:sp>
      <p:sp>
        <p:nvSpPr>
          <p:cNvPr id="24" name="Text 22"/>
          <p:cNvSpPr txBox="1"/>
          <p:nvPr/>
        </p:nvSpPr>
        <p:spPr>
          <a:xfrm>
            <a:off x="640080" y="6181344"/>
            <a:ext cx="5029200" cy="274320"/>
          </a:xfrm>
          <a:prstGeom prst="rect">
            <a:avLst/>
          </a:prstGeom>
          <a:noFill/>
          <a:ln/>
        </p:spPr>
        <p:txBody>
          <a:bodyPr wrap="square" lIns="0" tIns="0" rIns="0" bIns="0" rtlCol="0" anchor="ctr"/>
          <a:lstStyle/>
          <a:p>
            <a:pPr indent="0" marL="0">
              <a:buNone/>
            </a:pPr>
            <a:r>
              <a:rPr lang="en-US" sz="1050" b="1" spc="100" kern="0" dirty="0">
                <a:solidFill>
                  <a:srgbClr val="7D8DA8"/>
                </a:solidFill>
                <a:latin typeface="Calibri" pitchFamily="34" charset="0"/>
                <a:ea typeface="Calibri" pitchFamily="34" charset="-122"/>
                <a:cs typeface="Calibri" pitchFamily="34" charset="-120"/>
              </a:rPr>
              <a:t>ALL THREE MEMBERS TAKE QUESTIONS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Educational MIS - Student Profile Module</dc:title>
  <dc:subject>PptxGenJS Presentation</dc:subject>
  <dc:creator>PptxGenJS</dc:creator>
  <cp:lastModifiedBy>PptxGenJS</cp:lastModifiedBy>
  <cp:revision>1</cp:revision>
  <dcterms:created xsi:type="dcterms:W3CDTF">2026-09-01T03:15:10Z</dcterms:created>
  <dcterms:modified xsi:type="dcterms:W3CDTF">2026-09-01T03:15:10Z</dcterms:modified>
</cp:coreProperties>
</file>